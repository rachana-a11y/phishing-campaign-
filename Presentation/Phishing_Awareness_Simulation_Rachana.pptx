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vnd.openxmlformats-officedocument.oleObject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4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72" r:id="rId1"/>
    <p:sldMasterId id="2147483673" r:id="rId2"/>
  </p:sldMasterIdLst>
  <p:notesMasterIdLst>
    <p:notesMasterId r:id="rId3"/>
  </p:notesMasterIdLst>
  <p:sldIdLst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2" r:id="rId14"/>
    <p:sldId id="303" r:id="rId15"/>
    <p:sldId id="304" r:id="rId16"/>
    <p:sldId id="305" r:id="rId17"/>
    <p:sldId id="306" r:id="rId18"/>
    <p:sldId id="307" r:id="rId19"/>
    <p:sldId id="308" r:id="rId20"/>
  </p:sldIdLst>
  <p:sldSz type="custom" cy="5143500" cx="9144000"/>
  <p:notesSz cx="5143500" cy="9144000"/>
  <p:defaultTextStyle>
    <a:lvl1pPr algn="l" eaLnBrk="1" fontAlgn="base" hangingPunct="1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sz="1800">
        <a:solidFill>
          <a:schemeClr val="dk1"/>
        </a:solidFill>
        <a:latin typeface="Calibri" pitchFamily="34" charset="0"/>
        <a:ea typeface="等线" pitchFamily="0" charset="0"/>
      </a:defRPr>
    </a:lvl1pPr>
    <a:lvl2pPr algn="l" eaLnBrk="1" fontAlgn="base" hangingPunct="1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sz="1800">
        <a:solidFill>
          <a:schemeClr val="dk1"/>
        </a:solidFill>
        <a:latin typeface="Calibri" pitchFamily="34" charset="0"/>
        <a:ea typeface="等线" pitchFamily="0" charset="0"/>
      </a:defRPr>
    </a:lvl2pPr>
    <a:lvl3pPr algn="l" eaLnBrk="1" fontAlgn="base" hangingPunct="1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sz="1800">
        <a:solidFill>
          <a:schemeClr val="dk1"/>
        </a:solidFill>
        <a:latin typeface="Calibri" pitchFamily="34" charset="0"/>
        <a:ea typeface="等线" pitchFamily="0" charset="0"/>
      </a:defRPr>
    </a:lvl3pPr>
    <a:lvl4pPr algn="l" eaLnBrk="1" fontAlgn="base" hangingPunct="1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sz="1800">
        <a:solidFill>
          <a:schemeClr val="dk1"/>
        </a:solidFill>
        <a:latin typeface="Calibri" pitchFamily="34" charset="0"/>
        <a:ea typeface="等线" pitchFamily="0" charset="0"/>
      </a:defRPr>
    </a:lvl4pPr>
    <a:lvl5pPr algn="l" eaLnBrk="1" fontAlgn="base" hangingPunct="1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sz="1800">
        <a:solidFill>
          <a:schemeClr val="dk1"/>
        </a:solidFill>
        <a:latin typeface="Calibri" pitchFamily="34" charset="0"/>
        <a:ea typeface="等线" pitchFamily="0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normalViewPr showOutlineIcons="1" snapVertSplitter="0" vertBarState="restored" horzBarState="maximized" preferSingleView="0">
    <p:restoredLeft sz="15611" autoAdjust="0"/>
    <p:restoredTop sz="94610" autoAdjust="0"/>
  </p:normalViewPr>
  <p:slideViewPr>
    <p:cSldViewPr showGuides="1" snapToGrid="0" snapToObjects="1">
      <p:cViewPr varScale="1">
        <p:scale>
          <a:sx n="136" d="100"/>
          <a:sy n="136" d="100"/>
        </p:scale>
        <p:origin x="216" y="312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43" name="Header Placeholder 1"/>
          <p:cNvSpPr/>
          <p:nvPr>
            <p:ph type="hdr" sz="quarter" idx="4294967295"/>
          </p:nvPr>
        </p:nvSpPr>
        <p:spPr>
          <a:xfrm rot="0">
            <a:off x="0" y="0"/>
            <a:ext cx="2971800" cy="4587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endParaRPr altLang="zh-CN" sz="1200" lang="en-US"/>
          </a:p>
        </p:txBody>
      </p:sp>
      <p:sp>
        <p:nvSpPr>
          <p:cNvPr id="1049044" name="Date Placeholder 2"/>
          <p:cNvSpPr/>
          <p:nvPr>
            <p:ph type="dt" sz="full" idx="4294967295"/>
          </p:nvPr>
        </p:nvSpPr>
        <p:spPr>
          <a:xfrm rot="0">
            <a:off x="3884612" y="0"/>
            <a:ext cx="2971800" cy="4587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lvl="0"/>
            <a:fld id="{566ABCEB-ACFC-4714-9973-3DA970169C29}" type="datetime1">
              <a:rPr altLang="zh-CN" sz="1200" lang="en-US"/>
              <a:pPr algn="r" lvl="0"/>
            </a:fld>
            <a:endParaRPr altLang="zh-CN" sz="1200" lang="en-US"/>
          </a:p>
        </p:txBody>
      </p:sp>
      <p:sp>
        <p:nvSpPr>
          <p:cNvPr id="1049045" name="Slide Image Placeholder 3"/>
          <p:cNvSpPr/>
          <p:nvPr>
            <p:ph type="sldImg" sz="full" idx="4294967295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p/>
        </p:txBody>
      </p:sp>
      <p:sp>
        <p:nvSpPr>
          <p:cNvPr id="1049046" name="Notes Placeholder 4"/>
          <p:cNvSpPr/>
          <p:nvPr>
            <p:ph type="body" sz="quarter" idx="4294967295"/>
          </p:nvPr>
        </p:nvSpPr>
        <p:spPr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zh-CN" lang="en-US"/>
              <a:t>Click to edit Master text styles</a:t>
            </a:r>
          </a:p>
          <a:p>
            <a:pPr lvl="1"/>
            <a:r>
              <a:rPr altLang="zh-CN" lang="en-US"/>
              <a:t>Second level</a:t>
            </a:r>
          </a:p>
          <a:p>
            <a:pPr lvl="2"/>
            <a:r>
              <a:rPr altLang="zh-CN" lang="en-US"/>
              <a:t>Third level</a:t>
            </a:r>
          </a:p>
          <a:p>
            <a:pPr lvl="3"/>
            <a:r>
              <a:rPr altLang="zh-CN" lang="en-US"/>
              <a:t>Fourth level</a:t>
            </a:r>
          </a:p>
          <a:p>
            <a:pPr lvl="4"/>
            <a:r>
              <a:rPr altLang="zh-CN" lang="en-US"/>
              <a:t>Fifth level</a:t>
            </a:r>
          </a:p>
        </p:txBody>
      </p:sp>
      <p:sp>
        <p:nvSpPr>
          <p:cNvPr id="1049047" name="Footer Placeholder 5"/>
          <p:cNvSpPr/>
          <p:nvPr>
            <p:ph type="ftr" sz="quarter" idx="4294967295"/>
          </p:nvPr>
        </p:nvSpPr>
        <p:spPr>
          <a:xfrm rot="0">
            <a:off x="0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endParaRPr altLang="zh-CN" sz="1200" lang="en-US"/>
          </a:p>
        </p:txBody>
      </p:sp>
      <p:sp>
        <p:nvSpPr>
          <p:cNvPr id="1049048" name="Slide Number Placeholder 6"/>
          <p:cNvSpPr/>
          <p:nvPr>
            <p:ph type="sldNum" sz="quarter" idx="4294967295"/>
          </p:nvPr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/>
              <a:pPr algn="r" lvl="0"/>
            </a:fld>
            <a:endParaRPr altLang="zh-CN" sz="1200" lang="en-US"/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1" fontAlgn="base" hangingPunct="1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等线" pitchFamily="0" charset="0"/>
      </a:defRPr>
    </a:lvl1pPr>
    <a:lvl2pPr algn="l" eaLnBrk="1" fontAlgn="base" hangingPunct="1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等线" pitchFamily="0" charset="0"/>
      </a:defRPr>
    </a:lvl2pPr>
    <a:lvl3pPr algn="l" eaLnBrk="1" fontAlgn="base" hangingPunct="1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等线" pitchFamily="0" charset="0"/>
      </a:defRPr>
    </a:lvl3pPr>
    <a:lvl4pPr algn="l" eaLnBrk="1" fontAlgn="base" hangingPunct="1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等线" pitchFamily="0" charset="0"/>
      </a:defRPr>
    </a:lvl4pPr>
    <a:lvl5pPr algn="l" eaLnBrk="1" fontAlgn="base" hangingPunct="1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等线" pitchFamily="0" charset="0"/>
      </a:defRPr>
    </a:lvl5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5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756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Introduce the project: phishing simulation done as part of Naviotech internship using GoPhish on Kali Linux.</a:t>
            </a:r>
          </a:p>
        </p:txBody>
      </p:sp>
      <p:sp>
        <p:nvSpPr>
          <p:cNvPr id="1048757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2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773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The goal was to simulate phishing, measure click/submit rates, and document findings for awareness training.</a:t>
            </a:r>
          </a:p>
        </p:txBody>
      </p:sp>
      <p:sp>
        <p:nvSpPr>
          <p:cNvPr id="1048774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97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798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Created a group called 'Instagram Security' with 2 simulated users. Both received the phishing email.</a:t>
            </a:r>
          </a:p>
        </p:txBody>
      </p:sp>
      <p:sp>
        <p:nvSpPr>
          <p:cNvPr id="1048799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3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744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Configured SMTP via Gmail. Used a deceptive sender name 'Instagram' to simulate how attackers disguise email origins.</a:t>
            </a:r>
          </a:p>
        </p:txBody>
      </p:sp>
      <p:sp>
        <p:nvSpPr>
          <p:cNvPr id="1048745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8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89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Built a convincing fake Instagram login page using GoPhish's landing page editor. Capture passwords was enabled (for demo only). Redirects to real site after submission to avoid suspicion.</a:t>
            </a:r>
          </a:p>
        </p:txBody>
      </p:sp>
      <p:sp>
        <p:nvSpPr>
          <p:cNvPr id="1048690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4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55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The email template impersonated Instagram with an urgent security alert. GoPhish merge tags used for personalization.</a:t>
            </a:r>
          </a:p>
        </p:txBody>
      </p:sp>
      <p:sp>
        <p:nvSpPr>
          <p:cNvPr id="1048656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5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06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4 campaigns run total – iterative testing approach to fine-tune template before final execution.</a:t>
            </a:r>
          </a:p>
        </p:txBody>
      </p:sp>
      <p:sp>
        <p:nvSpPr>
          <p:cNvPr id="1048607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29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Dashboard shows 6 emails sent, 1 opened, 1 link clicked, 1 credential submitted. 0 reported = low security awareness.</a:t>
            </a:r>
          </a:p>
        </p:txBody>
      </p:sp>
      <p:sp>
        <p:nvSpPr>
          <p:cNvPr id="1048630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9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80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Timeline shows Rakesh completed the full attack chain – clicked link within 25 seconds and submitted credentials within 1 minute. High-risk behavior.</a:t>
            </a:r>
          </a:p>
        </p:txBody>
      </p:sp>
      <p:sp>
        <p:nvSpPr>
          <p:cNvPr id="1048681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3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714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Credentials successfully captured. Username 'Rachana' and password 'password' submitted. Demonstrates real risk of phishing. This is a controlled simulation only.</a:t>
            </a:r>
          </a:p>
        </p:txBody>
      </p:sp>
      <p:sp>
        <p:nvSpPr>
          <p:cNvPr id="1048715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18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819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High click and submit rates. No one reported it. Demonstrates that social engineering through urgency and impersonation is highly effective.</a:t>
            </a:r>
          </a:p>
        </p:txBody>
      </p:sp>
      <p:sp>
        <p:nvSpPr>
          <p:cNvPr id="1048820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3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854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Full MITRE-style kill chain from setup to credential theft. Key insight: social engineering bypassed all technical controls.</a:t>
            </a:r>
          </a:p>
        </p:txBody>
      </p:sp>
      <p:sp>
        <p:nvSpPr>
          <p:cNvPr id="1048855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94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895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Mapped attack techniques to MITRE ATT&amp;CK framework. This demonstrates deep understanding of threat actor TTPs.</a:t>
            </a:r>
          </a:p>
        </p:txBody>
      </p:sp>
      <p:sp>
        <p:nvSpPr>
          <p:cNvPr id="1048896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23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924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Six key recommendations based on simulation findings. MFA + training are the most impactful quick wins.</a:t>
            </a:r>
          </a:p>
        </p:txBody>
      </p:sp>
      <p:sp>
        <p:nvSpPr>
          <p:cNvPr id="1048925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52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953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Key practical lessons: traffic visibility gaps, deliverability tuning, pretext design, default insecure credential storage, redirect realism, and speed of compromise.</a:t>
            </a:r>
          </a:p>
        </p:txBody>
      </p:sp>
      <p:sp>
        <p:nvSpPr>
          <p:cNvPr id="1048954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69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970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Summarize the technical, analytical, and tooling skills practiced during this project — useful for resume/portfolio framing.</a:t>
            </a:r>
          </a:p>
        </p:txBody>
      </p:sp>
      <p:sp>
        <p:nvSpPr>
          <p:cNvPr id="1048971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90" name="Slide Image Placeholder 1"/>
          <p:cNvSpPr/>
          <p:nvPr>
            <p:ph type="sldImg" sz="full" idx="2"/>
          </p:nvPr>
        </p:nvSpPr>
        <p:spPr>
          <a:xfrm rot="0">
            <a:off x="685800" y="1143000"/>
            <a:ext cx="5486400" cy="30861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991" name="Notes Placeholder 2"/>
          <p:cNvSpPr/>
          <p:nvPr>
            <p:ph type="body" sz="full" idx="3"/>
          </p:nvPr>
        </p:nvSpPr>
        <p:spPr>
          <a:xfrm rot="0">
            <a:off x="685800" y="4400550"/>
            <a:ext cx="5486400" cy="3600450"/>
          </a:xfrm>
          <a:prstGeom prst="rect"/>
        </p:spPr>
        <p:txBody>
          <a:bodyPr anchor="t" bIns="45720" lIns="91440" rIns="91440" tIns="45720" vert="horz"/>
          <a:p>
            <a:pPr lvl="0"/>
            <a:r>
              <a:rPr altLang="zh-CN" lang="en-US"/>
              <a:t>Final wrap-up — phishing is still the #1 initial access vector globally. This project demonstrated real attack mechanics, measured user behavior, mapped to MITRE ATT&amp;CK, and produced actionable recommendations and personal skill growth.</a:t>
            </a:r>
          </a:p>
        </p:txBody>
      </p:sp>
      <p:sp>
        <p:nvSpPr>
          <p:cNvPr id="1048992" name="Slide Number Placeholder 3"/>
          <p:cNvSpPr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zh-CN" sz="1200" lang="en-US">
                <a:latin typeface="Calibri" pitchFamily="34" charset="0"/>
              </a:rPr>
              <a:pPr algn="r" lvl="0"/>
            </a:fld>
            <a:endParaRPr altLang="zh-CN" sz="1200"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3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69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8994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89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7" name="Title 1"/>
          <p:cNvSpPr>
            <a:spLocks noGrp="1"/>
          </p:cNvSpPr>
          <p:nvPr>
            <p:ph type="title"/>
          </p:nvPr>
        </p:nvSpPr>
        <p:spPr>
          <a:xfrm>
            <a:off x="623887" y="1282303"/>
            <a:ext cx="7886700" cy="213955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8998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7"/>
            <a:ext cx="7886700" cy="1125140"/>
          </a:xfrm>
        </p:spPr>
        <p:txBody>
          <a:bodyPr/>
          <a:lstStyle>
            <a:lvl1pPr indent="0" marL="0">
              <a:buNone/>
              <a:defRPr sz="2400"/>
            </a:lvl1pPr>
            <a:lvl2pPr indent="0" marL="457200">
              <a:buNone/>
              <a:defRPr sz="2000"/>
            </a:lvl2pPr>
            <a:lvl3pPr indent="0" marL="914400">
              <a:buNone/>
              <a:defRPr sz="18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00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3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  <p:sp>
        <p:nvSpPr>
          <p:cNvPr id="1049001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3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2" name="Title 1"/>
          <p:cNvSpPr>
            <a:spLocks noGrp="1"/>
          </p:cNvSpPr>
          <p:nvPr>
            <p:ph type="title"/>
          </p:nvPr>
        </p:nvSpPr>
        <p:spPr>
          <a:xfrm>
            <a:off x="629841" y="273843"/>
            <a:ext cx="7886700" cy="994172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0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900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0" cy="2763440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  <p:sp>
        <p:nvSpPr>
          <p:cNvPr id="104900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900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0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8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7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09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7" cy="2858691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9010" name="Content Placeholder 2"/>
          <p:cNvSpPr>
            <a:spLocks noGrp="1"/>
          </p:cNvSpPr>
          <p:nvPr>
            <p:ph idx="1"/>
          </p:nvPr>
        </p:nvSpPr>
        <p:spPr>
          <a:xfrm>
            <a:off x="3887391" y="740568"/>
            <a:ext cx="4629150" cy="36552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1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7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12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7" cy="2858691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901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8"/>
            <a:ext cx="4629150" cy="3655218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0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1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6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1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8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69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19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2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2" name="Title 1"/>
          <p:cNvSpPr>
            <a:spLocks noGrp="1"/>
          </p:cNvSpPr>
          <p:nvPr>
            <p:ph type="title"/>
          </p:nvPr>
        </p:nvSpPr>
        <p:spPr>
          <a:xfrm>
            <a:off x="623887" y="1282303"/>
            <a:ext cx="7886700" cy="213955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2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7"/>
            <a:ext cx="7886700" cy="1125140"/>
          </a:xfrm>
        </p:spPr>
        <p:txBody>
          <a:bodyPr/>
          <a:lstStyle>
            <a:lvl1pPr indent="0" marL="0">
              <a:buNone/>
              <a:defRPr sz="2400"/>
            </a:lvl1pPr>
            <a:lvl2pPr indent="0" marL="457200">
              <a:buNone/>
              <a:defRPr sz="2000"/>
            </a:lvl2pPr>
            <a:lvl3pPr indent="0" marL="914400">
              <a:buNone/>
              <a:defRPr sz="18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25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3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  <p:sp>
        <p:nvSpPr>
          <p:cNvPr id="1049026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3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7" name="Title 1"/>
          <p:cNvSpPr>
            <a:spLocks noGrp="1"/>
          </p:cNvSpPr>
          <p:nvPr>
            <p:ph type="title"/>
          </p:nvPr>
        </p:nvSpPr>
        <p:spPr>
          <a:xfrm>
            <a:off x="629841" y="273843"/>
            <a:ext cx="7886700" cy="994172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28" name="Text Placeholder 2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9029" name="Content Placeholder 3"/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0" cy="2763440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  <p:sp>
        <p:nvSpPr>
          <p:cNvPr id="104903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9031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0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3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7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3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7" cy="2858691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9035" name="Content Placeholder 2"/>
          <p:cNvSpPr>
            <a:spLocks noGrp="1"/>
          </p:cNvSpPr>
          <p:nvPr>
            <p:ph idx="1"/>
          </p:nvPr>
        </p:nvSpPr>
        <p:spPr>
          <a:xfrm>
            <a:off x="3887391" y="740568"/>
            <a:ext cx="4629150" cy="36552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6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7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3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7" cy="2858691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9038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8"/>
            <a:ext cx="4629150" cy="3655218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0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4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1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altLang="en-US" lang="zh-CN"/>
          </a:p>
        </p:txBody>
      </p:sp>
      <p:sp>
        <p:nvSpPr>
          <p:cNvPr id="104904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8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dt="0" ftr="0" sldNum="0"/>
  <p:txStyles>
    <p:titleStyle>
      <a:lvl1pPr algn="ctr" eaLnBrk="1" fontAlgn="base" hangingPunct="1" indent="0" latinLnBrk="0" marL="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4400">
          <a:solidFill>
            <a:schemeClr val="dk1"/>
          </a:solidFill>
          <a:latin typeface="Calibri Light" pitchFamily="0" charset="0"/>
          <a:ea typeface="等线 Light" pitchFamily="0" charset="0"/>
        </a:defRPr>
      </a:lvl1pPr>
    </p:titleStyle>
    <p:bodyStyle>
      <a:lvl1pPr algn="l" eaLnBrk="1" fontAlgn="base" hangingPunct="1" indent="-342900" latinLnBrk="0" marL="342900" rtl="0">
        <a:lnSpc>
          <a:spcPct val="100000"/>
        </a:lnSpc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3200">
          <a:solidFill>
            <a:schemeClr val="dk1"/>
          </a:solidFill>
          <a:latin typeface="Calibri" pitchFamily="34" charset="0"/>
          <a:ea typeface="等线" pitchFamily="0" charset="0"/>
        </a:defRPr>
      </a:lvl1pPr>
      <a:lvl2pPr algn="l" eaLnBrk="1" fontAlgn="base" hangingPunct="1" indent="-285750" latinLnBrk="0" marL="742950" rtl="0">
        <a:lnSpc>
          <a:spcPct val="100000"/>
        </a:lnSpc>
        <a:spcBef>
          <a:spcPct val="20000"/>
        </a:spcBef>
        <a:spcAft>
          <a:spcPct val="0"/>
        </a:spcAft>
        <a:buSzPct val="100000"/>
        <a:buFont typeface="Arial" pitchFamily="34" charset="0"/>
        <a:buChar char="–"/>
        <a:defRPr sz="2800">
          <a:solidFill>
            <a:schemeClr val="dk1"/>
          </a:solidFill>
          <a:latin typeface="Calibri" pitchFamily="34" charset="0"/>
          <a:ea typeface="等线" pitchFamily="0" charset="0"/>
        </a:defRPr>
      </a:lvl2pPr>
      <a:lvl3pPr algn="l" eaLnBrk="1" fontAlgn="base" hangingPunct="1" indent="-228600" latinLnBrk="0" marL="1143000" rtl="0">
        <a:lnSpc>
          <a:spcPct val="100000"/>
        </a:lnSpc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2400">
          <a:solidFill>
            <a:schemeClr val="dk1"/>
          </a:solidFill>
          <a:latin typeface="Calibri" pitchFamily="34" charset="0"/>
          <a:ea typeface="等线" pitchFamily="0" charset="0"/>
        </a:defRPr>
      </a:lvl3pPr>
      <a:lvl4pPr algn="l" eaLnBrk="1" fontAlgn="base" hangingPunct="1" indent="-228600" latinLnBrk="0" marL="1600200" rtl="0">
        <a:lnSpc>
          <a:spcPct val="100000"/>
        </a:lnSpc>
        <a:spcBef>
          <a:spcPct val="20000"/>
        </a:spcBef>
        <a:spcAft>
          <a:spcPct val="0"/>
        </a:spcAft>
        <a:buSzPct val="100000"/>
        <a:buFont typeface="Arial" pitchFamily="34" charset="0"/>
        <a:buChar char="–"/>
        <a:defRPr sz="2000">
          <a:solidFill>
            <a:schemeClr val="dk1"/>
          </a:solidFill>
          <a:latin typeface="Calibri" pitchFamily="34" charset="0"/>
          <a:ea typeface="等线" pitchFamily="0" charset="0"/>
        </a:defRPr>
      </a:lvl4pPr>
      <a:lvl5pPr algn="l" eaLnBrk="1" fontAlgn="base" hangingPunct="1" indent="-228600" latinLnBrk="0" marL="2057400" rtl="0">
        <a:lnSpc>
          <a:spcPct val="100000"/>
        </a:lnSpc>
        <a:spcBef>
          <a:spcPct val="20000"/>
        </a:spcBef>
        <a:spcAft>
          <a:spcPct val="0"/>
        </a:spcAft>
        <a:buSzPct val="100000"/>
        <a:buFont typeface="Arial" pitchFamily="34" charset="0"/>
        <a:buChar char="»"/>
        <a:defRPr sz="2000">
          <a:solidFill>
            <a:schemeClr val="dk1"/>
          </a:solidFill>
          <a:latin typeface="Calibri" pitchFamily="34" charset="0"/>
          <a:ea typeface="等线" pitchFamily="0" charset="0"/>
        </a:defRPr>
      </a:lvl5pPr>
    </p:bodyStyle>
    <p:otherStyle>
      <a:lvl1pPr algn="l" eaLnBrk="1" fontAlgn="base" hangingPunct="1" indent="0" latinLnBrk="0" marL="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等线" pitchFamily="0" charset="0"/>
        </a:defRPr>
      </a:lvl1pPr>
      <a:lvl2pPr algn="l" eaLnBrk="1" fontAlgn="base" hangingPunct="1" indent="0" latinLnBrk="0" marL="4572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等线" pitchFamily="0" charset="0"/>
        </a:defRPr>
      </a:lvl2pPr>
      <a:lvl3pPr algn="l" eaLnBrk="1" fontAlgn="base" hangingPunct="1" indent="0" latinLnBrk="0" marL="9144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等线" pitchFamily="0" charset="0"/>
        </a:defRPr>
      </a:lvl3pPr>
      <a:lvl4pPr algn="l" eaLnBrk="1" fontAlgn="base" hangingPunct="1" indent="0" latinLnBrk="0" marL="13716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等线" pitchFamily="0" charset="0"/>
        </a:defRPr>
      </a:lvl4pPr>
      <a:lvl5pPr algn="l" eaLnBrk="1" fontAlgn="base" hangingPunct="1" indent="0" latinLnBrk="0" marL="18288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等线" pitchFamily="0" charset="0"/>
        </a:defRPr>
      </a:lvl5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1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92" r:id="rId8"/>
    <p:sldLayoutId id="2147483693" r:id="rId9"/>
    <p:sldLayoutId id="2147483694" r:id="rId10"/>
    <p:sldLayoutId id="2147483695" r:id="rId11"/>
  </p:sldLayoutIdLst>
  <p:hf dt="0" ftr="0" sldNum="0"/>
  <p:txStyles>
    <p:titleStyle>
      <a:lvl1pPr algn="ctr" eaLnBrk="1" fontAlgn="base" hangingPunct="1" indent="0" latinLnBrk="0" marL="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4400">
          <a:solidFill>
            <a:schemeClr val="dk1"/>
          </a:solidFill>
          <a:latin typeface="Calibri Light" pitchFamily="0" charset="0"/>
          <a:ea typeface="等线 Light" pitchFamily="0" charset="0"/>
        </a:defRPr>
      </a:lvl1pPr>
    </p:titleStyle>
    <p:bodyStyle>
      <a:lvl1pPr algn="l" eaLnBrk="1" fontAlgn="base" hangingPunct="1" indent="-342900" latinLnBrk="0" marL="342900" rtl="0">
        <a:lnSpc>
          <a:spcPct val="100000"/>
        </a:lnSpc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3200">
          <a:solidFill>
            <a:schemeClr val="dk1"/>
          </a:solidFill>
          <a:latin typeface="Calibri" pitchFamily="34" charset="0"/>
          <a:ea typeface="等线" pitchFamily="0" charset="0"/>
        </a:defRPr>
      </a:lvl1pPr>
      <a:lvl2pPr algn="l" eaLnBrk="1" fontAlgn="base" hangingPunct="1" indent="-285750" latinLnBrk="0" marL="742950" rtl="0">
        <a:lnSpc>
          <a:spcPct val="100000"/>
        </a:lnSpc>
        <a:spcBef>
          <a:spcPct val="20000"/>
        </a:spcBef>
        <a:spcAft>
          <a:spcPct val="0"/>
        </a:spcAft>
        <a:buSzPct val="100000"/>
        <a:buFont typeface="Arial" pitchFamily="34" charset="0"/>
        <a:buChar char="–"/>
        <a:defRPr sz="2800">
          <a:solidFill>
            <a:schemeClr val="dk1"/>
          </a:solidFill>
          <a:latin typeface="Calibri" pitchFamily="34" charset="0"/>
          <a:ea typeface="等线" pitchFamily="0" charset="0"/>
        </a:defRPr>
      </a:lvl2pPr>
      <a:lvl3pPr algn="l" eaLnBrk="1" fontAlgn="base" hangingPunct="1" indent="-228600" latinLnBrk="0" marL="1143000" rtl="0">
        <a:lnSpc>
          <a:spcPct val="100000"/>
        </a:lnSpc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2400">
          <a:solidFill>
            <a:schemeClr val="dk1"/>
          </a:solidFill>
          <a:latin typeface="Calibri" pitchFamily="34" charset="0"/>
          <a:ea typeface="等线" pitchFamily="0" charset="0"/>
        </a:defRPr>
      </a:lvl3pPr>
      <a:lvl4pPr algn="l" eaLnBrk="1" fontAlgn="base" hangingPunct="1" indent="-228600" latinLnBrk="0" marL="1600200" rtl="0">
        <a:lnSpc>
          <a:spcPct val="100000"/>
        </a:lnSpc>
        <a:spcBef>
          <a:spcPct val="20000"/>
        </a:spcBef>
        <a:spcAft>
          <a:spcPct val="0"/>
        </a:spcAft>
        <a:buSzPct val="100000"/>
        <a:buFont typeface="Arial" pitchFamily="34" charset="0"/>
        <a:buChar char="–"/>
        <a:defRPr sz="2000">
          <a:solidFill>
            <a:schemeClr val="dk1"/>
          </a:solidFill>
          <a:latin typeface="Calibri" pitchFamily="34" charset="0"/>
          <a:ea typeface="等线" pitchFamily="0" charset="0"/>
        </a:defRPr>
      </a:lvl4pPr>
      <a:lvl5pPr algn="l" eaLnBrk="1" fontAlgn="base" hangingPunct="1" indent="-228600" latinLnBrk="0" marL="2057400" rtl="0">
        <a:lnSpc>
          <a:spcPct val="100000"/>
        </a:lnSpc>
        <a:spcBef>
          <a:spcPct val="20000"/>
        </a:spcBef>
        <a:spcAft>
          <a:spcPct val="0"/>
        </a:spcAft>
        <a:buSzPct val="100000"/>
        <a:buFont typeface="Arial" pitchFamily="34" charset="0"/>
        <a:buChar char="»"/>
        <a:defRPr sz="2000">
          <a:solidFill>
            <a:schemeClr val="dk1"/>
          </a:solidFill>
          <a:latin typeface="Calibri" pitchFamily="34" charset="0"/>
          <a:ea typeface="等线" pitchFamily="0" charset="0"/>
        </a:defRPr>
      </a:lvl5pPr>
    </p:bodyStyle>
    <p:otherStyle>
      <a:lvl1pPr algn="l" eaLnBrk="1" fontAlgn="base" hangingPunct="1" indent="0" latinLnBrk="0" marL="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等线" pitchFamily="0" charset="0"/>
        </a:defRPr>
      </a:lvl1pPr>
      <a:lvl2pPr algn="l" eaLnBrk="1" fontAlgn="base" hangingPunct="1" indent="0" latinLnBrk="0" marL="4572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等线" pitchFamily="0" charset="0"/>
        </a:defRPr>
      </a:lvl2pPr>
      <a:lvl3pPr algn="l" eaLnBrk="1" fontAlgn="base" hangingPunct="1" indent="0" latinLnBrk="0" marL="9144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等线" pitchFamily="0" charset="0"/>
        </a:defRPr>
      </a:lvl3pPr>
      <a:lvl4pPr algn="l" eaLnBrk="1" fontAlgn="base" hangingPunct="1" indent="0" latinLnBrk="0" marL="13716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等线" pitchFamily="0" charset="0"/>
        </a:defRPr>
      </a:lvl4pPr>
      <a:lvl5pPr algn="l" eaLnBrk="1" fontAlgn="base" hangingPunct="1" indent="0" latinLnBrk="0" marL="18288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Calibri" pitchFamily="34" charset="0"/>
          <a:ea typeface="等线" pitchFamily="0" charset="0"/>
        </a:defRPr>
      </a:lvl5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oleObject" Target="../embeddings/oleObject0.bin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0D1B2A"/>
        </a:solidFill>
      </p:bgPr>
    </p:bg>
    <p:spTree>
      <p:nvGrpSpPr>
        <p:cNvPr id="5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6" name="Shape 0"/>
          <p:cNvSpPr/>
          <p:nvPr/>
        </p:nvSpPr>
        <p:spPr>
          <a:xfrm rot="0">
            <a:off x="7497762" y="-731837"/>
            <a:ext cx="3200400" cy="3200400"/>
          </a:xfrm>
          <a:prstGeom prst="ellipse"/>
          <a:solidFill>
            <a:srgbClr val="00B4D8">
              <a:alpha val="20000"/>
            </a:srgbClr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747" name="Shape 1"/>
          <p:cNvSpPr/>
          <p:nvPr/>
        </p:nvSpPr>
        <p:spPr>
          <a:xfrm rot="0">
            <a:off x="-731837" y="3200400"/>
            <a:ext cx="2286000" cy="2286000"/>
          </a:xfrm>
          <a:prstGeom prst="ellipse"/>
          <a:solidFill>
            <a:srgbClr val="0077B6">
              <a:alpha val="25000"/>
            </a:srgbClr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748" name="Text 2"/>
          <p:cNvSpPr/>
          <p:nvPr/>
        </p:nvSpPr>
        <p:spPr>
          <a:xfrm rot="0">
            <a:off x="549275" y="822325"/>
            <a:ext cx="8045450" cy="5492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4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</a:rPr>
              <a:t>PHISHING AWARENESS</a:t>
            </a:r>
          </a:p>
        </p:txBody>
      </p:sp>
      <p:sp>
        <p:nvSpPr>
          <p:cNvPr id="1048749" name="Text 3"/>
          <p:cNvSpPr/>
          <p:nvPr/>
        </p:nvSpPr>
        <p:spPr>
          <a:xfrm rot="0">
            <a:off x="549275" y="1371600"/>
            <a:ext cx="8045450" cy="10064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4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Simulation Project</a:t>
            </a:r>
          </a:p>
        </p:txBody>
      </p:sp>
      <p:sp>
        <p:nvSpPr>
          <p:cNvPr id="1048750" name="Shape 4"/>
          <p:cNvSpPr/>
          <p:nvPr/>
        </p:nvSpPr>
        <p:spPr>
          <a:xfrm rot="0">
            <a:off x="549275" y="2468562"/>
            <a:ext cx="2559050" cy="46037"/>
          </a:xfrm>
          <a:prstGeom prst="rect"/>
          <a:solidFill>
            <a:srgbClr val="00B4D8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751" name="Text 5"/>
          <p:cNvSpPr/>
          <p:nvPr/>
        </p:nvSpPr>
        <p:spPr>
          <a:xfrm rot="0">
            <a:off x="549275" y="2606675"/>
            <a:ext cx="6400800" cy="7302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4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Internship Project Report</a:t>
            </a:r>
          </a:p>
          <a:p>
            <a:pPr indent="-342900" lvl="0">
              <a:buFontTx/>
              <a:buNone/>
            </a:pPr>
            <a:r>
              <a:rPr altLang="zh-CN" sz="14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Naviotech Solution Pvt. Ltd.</a:t>
            </a:r>
          </a:p>
        </p:txBody>
      </p:sp>
      <p:sp>
        <p:nvSpPr>
          <p:cNvPr id="1048752" name="Text 6"/>
          <p:cNvSpPr/>
          <p:nvPr/>
        </p:nvSpPr>
        <p:spPr>
          <a:xfrm rot="0">
            <a:off x="549275" y="3429000"/>
            <a:ext cx="6400800" cy="36512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3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Submitted by: </a:t>
            </a:r>
            <a:r>
              <a:rPr altLang="zh-CN" b="1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Rachana Appani</a:t>
            </a:r>
          </a:p>
        </p:txBody>
      </p:sp>
      <p:sp>
        <p:nvSpPr>
          <p:cNvPr id="1048753" name="Text 7"/>
          <p:cNvSpPr/>
          <p:nvPr/>
        </p:nvSpPr>
        <p:spPr>
          <a:xfrm rot="0">
            <a:off x="549275" y="3794125"/>
            <a:ext cx="7315200" cy="3206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1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B.Tech CSE (Cybersecurity) | Malla Reddy Engineering College for Women</a:t>
            </a:r>
          </a:p>
        </p:txBody>
      </p:sp>
      <p:sp>
        <p:nvSpPr>
          <p:cNvPr id="1048754" name="Text 8"/>
          <p:cNvSpPr/>
          <p:nvPr/>
        </p:nvSpPr>
        <p:spPr>
          <a:xfrm rot="0">
            <a:off x="549275" y="4160837"/>
            <a:ext cx="7315200" cy="3190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</a:rPr>
              <a:t>Tool Used: GoPhish  |  Internship: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0F4F8"/>
        </a:solidFill>
      </p:bgPr>
    </p:bg>
    <p:spTree>
      <p:nvGrpSpPr>
        <p:cNvPr id="5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8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D1B2A"/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</a:ln>
        </p:spPr>
      </p:sp>
      <p:sp>
        <p:nvSpPr>
          <p:cNvPr id="1048759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Project Overview &amp; Objectives</a:t>
            </a:r>
          </a:p>
        </p:txBody>
      </p:sp>
      <p:sp>
        <p:nvSpPr>
          <p:cNvPr id="1048760" name="Shape 2"/>
          <p:cNvSpPr/>
          <p:nvPr/>
        </p:nvSpPr>
        <p:spPr>
          <a:xfrm rot="0">
            <a:off x="274637" y="1096962"/>
            <a:ext cx="2743200" cy="3567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761" name="Text 3"/>
          <p:cNvSpPr/>
          <p:nvPr/>
        </p:nvSpPr>
        <p:spPr>
          <a:xfrm rot="0">
            <a:off x="274637" y="1235075"/>
            <a:ext cx="2743200" cy="6397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2800" lang="en-US">
                <a:solidFill>
                  <a:srgbClr val="000000"/>
                </a:solidFill>
                <a:latin typeface="Calibri" pitchFamily="34" charset="0"/>
              </a:rPr>
              <a:t>🎯</a:t>
            </a:r>
          </a:p>
        </p:txBody>
      </p:sp>
      <p:sp>
        <p:nvSpPr>
          <p:cNvPr id="1048762" name="Text 4"/>
          <p:cNvSpPr/>
          <p:nvPr/>
        </p:nvSpPr>
        <p:spPr>
          <a:xfrm rot="0">
            <a:off x="274637" y="1920875"/>
            <a:ext cx="2743200" cy="4111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4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Objective</a:t>
            </a:r>
          </a:p>
        </p:txBody>
      </p:sp>
      <p:sp>
        <p:nvSpPr>
          <p:cNvPr id="1048763" name="Text 5"/>
          <p:cNvSpPr/>
          <p:nvPr/>
        </p:nvSpPr>
        <p:spPr>
          <a:xfrm rot="0">
            <a:off x="411162" y="2378075"/>
            <a:ext cx="2468562" cy="2101850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Simulate a real-world phishing attack in a controlled lab environment to study user behavior and awareness levels.</a:t>
            </a:r>
          </a:p>
        </p:txBody>
      </p:sp>
      <p:sp>
        <p:nvSpPr>
          <p:cNvPr id="1048764" name="Shape 6"/>
          <p:cNvSpPr/>
          <p:nvPr/>
        </p:nvSpPr>
        <p:spPr>
          <a:xfrm rot="0">
            <a:off x="3200400" y="1096962"/>
            <a:ext cx="2743200" cy="3567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765" name="Text 7"/>
          <p:cNvSpPr/>
          <p:nvPr/>
        </p:nvSpPr>
        <p:spPr>
          <a:xfrm rot="0">
            <a:off x="3200400" y="1235075"/>
            <a:ext cx="2743200" cy="6397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2800" lang="en-US">
                <a:solidFill>
                  <a:srgbClr val="000000"/>
                </a:solidFill>
                <a:latin typeface="Calibri" pitchFamily="34" charset="0"/>
              </a:rPr>
              <a:t>🛠️</a:t>
            </a:r>
          </a:p>
        </p:txBody>
      </p:sp>
      <p:sp>
        <p:nvSpPr>
          <p:cNvPr id="1048766" name="Text 8"/>
          <p:cNvSpPr/>
          <p:nvPr/>
        </p:nvSpPr>
        <p:spPr>
          <a:xfrm rot="0">
            <a:off x="3200400" y="1920875"/>
            <a:ext cx="2743200" cy="4111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4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Tool Used</a:t>
            </a:r>
          </a:p>
        </p:txBody>
      </p:sp>
      <p:sp>
        <p:nvSpPr>
          <p:cNvPr id="1048767" name="Text 9"/>
          <p:cNvSpPr/>
          <p:nvPr/>
        </p:nvSpPr>
        <p:spPr>
          <a:xfrm rot="0">
            <a:off x="3336925" y="2378075"/>
            <a:ext cx="2470150" cy="2101850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GoPhish – open-source phishing framework running on Kali Linux VM via Oracle VirtualBox.</a:t>
            </a:r>
          </a:p>
        </p:txBody>
      </p:sp>
      <p:sp>
        <p:nvSpPr>
          <p:cNvPr id="1048768" name="Shape 10"/>
          <p:cNvSpPr/>
          <p:nvPr/>
        </p:nvSpPr>
        <p:spPr>
          <a:xfrm rot="0">
            <a:off x="6126162" y="1096962"/>
            <a:ext cx="2743200" cy="3567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769" name="Text 11"/>
          <p:cNvSpPr/>
          <p:nvPr/>
        </p:nvSpPr>
        <p:spPr>
          <a:xfrm rot="0">
            <a:off x="6126162" y="1235075"/>
            <a:ext cx="2743200" cy="6397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2800" lang="en-US">
                <a:solidFill>
                  <a:srgbClr val="000000"/>
                </a:solidFill>
                <a:latin typeface="Calibri" pitchFamily="34" charset="0"/>
              </a:rPr>
              <a:t>📧</a:t>
            </a:r>
          </a:p>
        </p:txBody>
      </p:sp>
      <p:sp>
        <p:nvSpPr>
          <p:cNvPr id="1048770" name="Text 12"/>
          <p:cNvSpPr/>
          <p:nvPr/>
        </p:nvSpPr>
        <p:spPr>
          <a:xfrm rot="0">
            <a:off x="6126162" y="1920875"/>
            <a:ext cx="2743200" cy="4111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4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Scenario</a:t>
            </a:r>
          </a:p>
        </p:txBody>
      </p:sp>
      <p:sp>
        <p:nvSpPr>
          <p:cNvPr id="1048771" name="Text 13"/>
          <p:cNvSpPr/>
          <p:nvPr/>
        </p:nvSpPr>
        <p:spPr>
          <a:xfrm rot="0">
            <a:off x="6264275" y="2378075"/>
            <a:ext cx="2468562" cy="2101850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Instagram security alert phishing email sent to a simulated target group of 2 users (Premium Member &amp; VIP).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FFFFF"/>
        </a:solidFill>
      </p:bgPr>
    </p:bg>
    <p:spTree>
      <p:nvGrpSpPr>
        <p:cNvPr id="5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5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776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Step 1 – Target Group Configuration</a:t>
            </a:r>
          </a:p>
        </p:txBody>
      </p:sp>
      <p:pic>
        <p:nvPicPr>
          <p:cNvPr id="2097158" name="Image 0" descr="/home/claude/img_edit_group.jpg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4637" y="1050925"/>
            <a:ext cx="5119687" cy="3613150"/>
          </a:xfrm>
          <a:prstGeom prst="rect"/>
          <a:noFill/>
          <a:ln>
            <a:noFill/>
          </a:ln>
        </p:spPr>
      </p:pic>
      <p:sp>
        <p:nvSpPr>
          <p:cNvPr id="1048777" name="Text 2"/>
          <p:cNvSpPr/>
          <p:nvPr/>
        </p:nvSpPr>
        <p:spPr>
          <a:xfrm rot="0">
            <a:off x="5622925" y="1096962"/>
            <a:ext cx="3246437" cy="3667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500" lang="en-US">
                <a:solidFill>
                  <a:srgbClr val="0D1B2A"/>
                </a:solidFill>
                <a:latin typeface="Cambria" pitchFamily="34" charset="0"/>
                <a:ea typeface="Cambria" pitchFamily="34" charset="-122"/>
              </a:rPr>
              <a:t>Group: Instagram Security</a:t>
            </a:r>
          </a:p>
        </p:txBody>
      </p:sp>
      <p:graphicFrame>
        <p:nvGraphicFramePr>
          <p:cNvPr id="4194307" name=""/>
          <p:cNvGraphicFramePr>
            <a:graphicFrameLocks/>
          </p:cNvGraphicFramePr>
          <p:nvPr/>
        </p:nvGraphicFramePr>
        <p:xfrm rot="0">
          <a:off x="5622925" y="1508125"/>
          <a:ext cx="3246437" cy="976312"/>
        </p:xfrm>
        <a:graphic>
          <a:graphicData uri="http://schemas.openxmlformats.org/drawingml/2006/table">
            <a:tbl>
              <a:tblPr/>
              <a:tblGrid>
                <a:gridCol w="1142999"/>
                <a:gridCol w="1508124"/>
                <a:gridCol w="595312"/>
              </a:tblGrid>
              <a:tr h="244873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000" lang="en-US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Name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000" lang="en-US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Email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000" lang="en-US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Role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0D1B2A"/>
                    </a:solidFill>
                  </a:tcPr>
                </a:tc>
              </a:tr>
              <a:tr h="502466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9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Rachana Varma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9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rachana.appani05@gmail.com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9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Premium Member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228972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9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Rakesh varma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9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appanirachana@gmail.com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9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VIP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795" name="Text 3"/>
          <p:cNvSpPr/>
          <p:nvPr/>
        </p:nvSpPr>
        <p:spPr>
          <a:xfrm rot="0">
            <a:off x="5622925" y="2879725"/>
            <a:ext cx="3246437" cy="3206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2 targets added manually</a:t>
            </a:r>
          </a:p>
        </p:txBody>
      </p:sp>
      <p:sp>
        <p:nvSpPr>
          <p:cNvPr id="1048796" name="Text 4"/>
          <p:cNvSpPr/>
          <p:nvPr/>
        </p:nvSpPr>
        <p:spPr>
          <a:xfrm rot="0">
            <a:off x="5622925" y="3246437"/>
            <a:ext cx="3246437" cy="1279525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Simulating real employees at different access levels to test how each responds to the phishing email.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0F4F8"/>
        </a:solidFill>
      </p:bgPr>
    </p:bg>
    <p:spTree>
      <p:nvGrpSpPr>
        <p:cNvPr id="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6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D1B2A"/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</a:ln>
        </p:spPr>
      </p:sp>
      <p:sp>
        <p:nvSpPr>
          <p:cNvPr id="1048717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Step 2 – Sending Profile (SMTP Configuration)</a:t>
            </a:r>
          </a:p>
        </p:txBody>
      </p:sp>
      <p:sp>
        <p:nvSpPr>
          <p:cNvPr id="1048718" name="Text 2"/>
          <p:cNvSpPr/>
          <p:nvPr/>
        </p:nvSpPr>
        <p:spPr>
          <a:xfrm rot="0">
            <a:off x="365125" y="1096962"/>
            <a:ext cx="4114800" cy="4111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600" lang="en-US">
                <a:solidFill>
                  <a:srgbClr val="0077B6"/>
                </a:solidFill>
                <a:latin typeface="Cambria" pitchFamily="34" charset="0"/>
                <a:ea typeface="Cambria" pitchFamily="34" charset="-122"/>
              </a:rPr>
              <a:t>Profile: Instagram Security</a:t>
            </a:r>
          </a:p>
        </p:txBody>
      </p:sp>
      <p:graphicFrame>
        <p:nvGraphicFramePr>
          <p:cNvPr id="4194306" name=""/>
          <p:cNvGraphicFramePr>
            <a:graphicFrameLocks/>
          </p:cNvGraphicFramePr>
          <p:nvPr/>
        </p:nvGraphicFramePr>
        <p:xfrm rot="0">
          <a:off x="365125" y="1600200"/>
          <a:ext cx="4206875" cy="1554162"/>
        </p:xfrm>
        <a:graphic>
          <a:graphicData uri="http://schemas.openxmlformats.org/drawingml/2006/table">
            <a:tbl>
              <a:tblPr/>
              <a:tblGrid>
                <a:gridCol w="1096962"/>
                <a:gridCol w="3109912"/>
              </a:tblGrid>
              <a:tr h="258762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100" lang="en-US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Field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100" lang="en-US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Value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0077B6"/>
                    </a:solidFill>
                  </a:tcPr>
                </a:tc>
              </a:tr>
              <a:tr h="258762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From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Instagram &lt;hackr.xpert3@gmail.com&gt;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0349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Host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smtp.gmail.com:465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8762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Interface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SMTP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8762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Auth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Gmail App Password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8762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SSL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Port 465 (Implicit TLS)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741" name="Text 3"/>
          <p:cNvSpPr/>
          <p:nvPr/>
        </p:nvSpPr>
        <p:spPr>
          <a:xfrm rot="0">
            <a:off x="365125" y="3292475"/>
            <a:ext cx="4114800" cy="3190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Why this matters:</a:t>
            </a:r>
          </a:p>
        </p:txBody>
      </p:sp>
      <p:sp>
        <p:nvSpPr>
          <p:cNvPr id="1048742" name="Text 4"/>
          <p:cNvSpPr/>
          <p:nvPr/>
        </p:nvSpPr>
        <p:spPr>
          <a:xfrm rot="0">
            <a:off x="365125" y="3611562"/>
            <a:ext cx="4114800" cy="8239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The sender name 'Instagram' with a spoofed-looking email mimics real social engineering tactics used by attackers to gain trust.</a:t>
            </a:r>
          </a:p>
        </p:txBody>
      </p:sp>
      <p:pic>
        <p:nvPicPr>
          <p:cNvPr id="2097157" name="Image 0" descr="/home/claude/img_smtp_config.jpg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664075" y="1050925"/>
            <a:ext cx="4205287" cy="3657600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FFFFF"/>
        </a:solidFill>
      </p:bgPr>
    </p:bg>
    <p:spTree>
      <p:nvGrpSpPr>
        <p:cNvPr id="4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2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683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Step 3 – Fake Landing Page (Instagram Clone)</a:t>
            </a:r>
          </a:p>
        </p:txBody>
      </p:sp>
      <p:pic>
        <p:nvPicPr>
          <p:cNvPr id="2097154" name="Image 0" descr="/home/claude/img_landing_page_html.jpg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4637" y="1050925"/>
            <a:ext cx="4572000" cy="3200400"/>
          </a:xfrm>
          <a:prstGeom prst="rect"/>
          <a:noFill/>
          <a:ln>
            <a:noFill/>
          </a:ln>
        </p:spPr>
      </p:pic>
      <p:pic>
        <p:nvPicPr>
          <p:cNvPr id="2097155" name="Image 1" descr="/home/claude/img_landing_page_redirect.jpg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5029200" y="1050925"/>
            <a:ext cx="3840162" cy="3200400"/>
          </a:xfrm>
          <a:prstGeom prst="rect"/>
          <a:noFill/>
          <a:ln>
            <a:noFill/>
          </a:ln>
        </p:spPr>
      </p:pic>
      <p:sp>
        <p:nvSpPr>
          <p:cNvPr id="1048684" name="Text 2"/>
          <p:cNvSpPr/>
          <p:nvPr/>
        </p:nvSpPr>
        <p:spPr>
          <a:xfrm rot="0">
            <a:off x="274637" y="4297362"/>
            <a:ext cx="4572000" cy="3206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10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HTML Source (Custom Instagram Login Clone)</a:t>
            </a:r>
          </a:p>
        </p:txBody>
      </p:sp>
      <p:sp>
        <p:nvSpPr>
          <p:cNvPr id="1048685" name="Text 3"/>
          <p:cNvSpPr/>
          <p:nvPr/>
        </p:nvSpPr>
        <p:spPr>
          <a:xfrm rot="0">
            <a:off x="5029200" y="4297362"/>
            <a:ext cx="3840162" cy="3206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10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Capture Settings + Redirect to real instagram.com</a:t>
            </a:r>
          </a:p>
        </p:txBody>
      </p:sp>
      <p:sp>
        <p:nvSpPr>
          <p:cNvPr id="1048686" name="Shape 4"/>
          <p:cNvSpPr/>
          <p:nvPr/>
        </p:nvSpPr>
        <p:spPr>
          <a:xfrm rot="0">
            <a:off x="274637" y="4664075"/>
            <a:ext cx="8594725" cy="365125"/>
          </a:xfrm>
          <a:prstGeom prst="roundRect">
            <a:avLst>
              <a:gd name="adj" fmla="val 20000"/>
            </a:avLst>
          </a:prstGeom>
          <a:solidFill>
            <a:srgbClr val="00B4D8">
              <a:alpha val="14999"/>
            </a:srgbClr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687" name="Text 5"/>
          <p:cNvSpPr/>
          <p:nvPr/>
        </p:nvSpPr>
        <p:spPr>
          <a:xfrm rot="0">
            <a:off x="457200" y="4681537"/>
            <a:ext cx="8229600" cy="3206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0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✅  Capture Submitted Data  |  ✅  Capture Passwords  |  🔁  Redirect: http://www.instagram.com/ (after submission)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0F4F8"/>
        </a:solidFill>
      </p:bgPr>
    </p:bg>
    <p:spTree>
      <p:nvGrpSpPr>
        <p:cNvPr id="3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1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D1B2A"/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</a:ln>
        </p:spPr>
      </p:sp>
      <p:sp>
        <p:nvSpPr>
          <p:cNvPr id="1048632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Step 4 – Phishing Email Template</a:t>
            </a:r>
          </a:p>
        </p:txBody>
      </p:sp>
      <p:sp>
        <p:nvSpPr>
          <p:cNvPr id="1048633" name="Shape 2"/>
          <p:cNvSpPr/>
          <p:nvPr/>
        </p:nvSpPr>
        <p:spPr>
          <a:xfrm rot="0">
            <a:off x="365125" y="1050925"/>
            <a:ext cx="4938712" cy="3841750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634" name="Shape 3"/>
          <p:cNvSpPr/>
          <p:nvPr/>
        </p:nvSpPr>
        <p:spPr>
          <a:xfrm rot="0">
            <a:off x="365125" y="1050925"/>
            <a:ext cx="4938712" cy="503237"/>
          </a:xfrm>
          <a:prstGeom prst="rect"/>
          <a:solidFill>
            <a:srgbClr val="E1306C"/>
          </a:solidFill>
          <a:ln w="12700" cap="flat" cmpd="sng">
            <a:solidFill>
              <a:srgbClr val="E1306C">
                <a:alpha val="100000"/>
              </a:srgbClr>
            </a:solidFill>
            <a:prstDash val="solid"/>
            <a:round/>
          </a:ln>
        </p:spPr>
      </p:sp>
      <p:sp>
        <p:nvSpPr>
          <p:cNvPr id="1048635" name="Text 4"/>
          <p:cNvSpPr/>
          <p:nvPr/>
        </p:nvSpPr>
        <p:spPr>
          <a:xfrm rot="0">
            <a:off x="365125" y="1050925"/>
            <a:ext cx="4938712" cy="5032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Instagram</a:t>
            </a:r>
          </a:p>
        </p:txBody>
      </p:sp>
      <p:sp>
        <p:nvSpPr>
          <p:cNvPr id="1048636" name="Text 5"/>
          <p:cNvSpPr/>
          <p:nvPr/>
        </p:nvSpPr>
        <p:spPr>
          <a:xfrm rot="0">
            <a:off x="549275" y="1646237"/>
            <a:ext cx="4572000" cy="3017837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Subject: </a:t>
            </a: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⚠️ Unusual login attempt on your account
</a:t>
            </a:r>
          </a:p>
          <a:p>
            <a:pPr indent="-342900" lvl="0">
              <a:buFontTx/>
              <a:buNone/>
            </a:pPr>
            <a:r>
              <a:rPr altLang="zh-CN" b="1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From: </a:t>
            </a:r>
            <a:r>
              <a:rPr altLang="zh-CN" sz="10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Instagram &lt;hackr.xpert3@gmail.com&gt;
</a:t>
            </a:r>
          </a:p>
          <a:p>
            <a:pPr indent="-342900" lvl="0">
              <a:buFontTx/>
              <a:buNone/>
            </a:pPr>
            <a:r>
              <a:rPr altLang="zh-CN" b="1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Hi {{.FirstName}},
</a:t>
            </a:r>
          </a:p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We detected a suspicious login to your Instagram account from an unrecognized device.
</a:t>
            </a:r>
          </a:p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If this wasn't you, please verify your account immediately:
</a:t>
            </a:r>
          </a:p>
          <a:p>
            <a:pPr indent="-342900" lvl="0">
              <a:buFontTx/>
              <a:buNone/>
            </a:pPr>
            <a:r>
              <a:rPr altLang="zh-CN" b="1" sz="10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[ Secure My Account ]</a:t>
            </a:r>
          </a:p>
        </p:txBody>
      </p:sp>
      <p:sp>
        <p:nvSpPr>
          <p:cNvPr id="1048637" name="Text 6"/>
          <p:cNvSpPr/>
          <p:nvPr/>
        </p:nvSpPr>
        <p:spPr>
          <a:xfrm rot="0">
            <a:off x="5578475" y="1050925"/>
            <a:ext cx="3290887" cy="3667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500" lang="en-US">
                <a:solidFill>
                  <a:srgbClr val="0D1B2A"/>
                </a:solidFill>
                <a:latin typeface="Cambria" pitchFamily="34" charset="0"/>
                <a:ea typeface="Cambria" pitchFamily="34" charset="-122"/>
              </a:rPr>
              <a:t>Why it works:</a:t>
            </a:r>
          </a:p>
        </p:txBody>
      </p:sp>
      <p:sp>
        <p:nvSpPr>
          <p:cNvPr id="1048638" name="Shape 7"/>
          <p:cNvSpPr/>
          <p:nvPr/>
        </p:nvSpPr>
        <p:spPr>
          <a:xfrm rot="0">
            <a:off x="5578475" y="1508125"/>
            <a:ext cx="3290887" cy="714375"/>
          </a:xfrm>
          <a:prstGeom prst="roundRect">
            <a:avLst>
              <a:gd name="adj" fmla="val 10255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</p:spPr>
      </p:sp>
      <p:sp>
        <p:nvSpPr>
          <p:cNvPr id="1048639" name="Text 8"/>
          <p:cNvSpPr/>
          <p:nvPr/>
        </p:nvSpPr>
        <p:spPr>
          <a:xfrm rot="0">
            <a:off x="5668962" y="1554162"/>
            <a:ext cx="457200" cy="5953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lang="en-US">
                <a:solidFill>
                  <a:srgbClr val="000000"/>
                </a:solidFill>
                <a:latin typeface="Calibri" pitchFamily="34" charset="0"/>
              </a:rPr>
              <a:t>🎭</a:t>
            </a:r>
          </a:p>
        </p:txBody>
      </p:sp>
      <p:sp>
        <p:nvSpPr>
          <p:cNvPr id="1048640" name="Text 9"/>
          <p:cNvSpPr/>
          <p:nvPr/>
        </p:nvSpPr>
        <p:spPr>
          <a:xfrm rot="0">
            <a:off x="6172200" y="1544637"/>
            <a:ext cx="2560637" cy="2571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Impersonation</a:t>
            </a:r>
          </a:p>
        </p:txBody>
      </p:sp>
      <p:sp>
        <p:nvSpPr>
          <p:cNvPr id="1048641" name="Text 10"/>
          <p:cNvSpPr/>
          <p:nvPr/>
        </p:nvSpPr>
        <p:spPr>
          <a:xfrm rot="0">
            <a:off x="6172200" y="1809750"/>
            <a:ext cx="2560637" cy="3476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Sender name set to 'Instagram' to appear legitimate</a:t>
            </a:r>
          </a:p>
        </p:txBody>
      </p:sp>
      <p:sp>
        <p:nvSpPr>
          <p:cNvPr id="1048642" name="Shape 11"/>
          <p:cNvSpPr/>
          <p:nvPr/>
        </p:nvSpPr>
        <p:spPr>
          <a:xfrm rot="0">
            <a:off x="5578475" y="2332037"/>
            <a:ext cx="3290887" cy="712787"/>
          </a:xfrm>
          <a:prstGeom prst="roundRect">
            <a:avLst>
              <a:gd name="adj" fmla="val 10255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</p:spPr>
      </p:sp>
      <p:sp>
        <p:nvSpPr>
          <p:cNvPr id="1048643" name="Text 12"/>
          <p:cNvSpPr/>
          <p:nvPr/>
        </p:nvSpPr>
        <p:spPr>
          <a:xfrm rot="0">
            <a:off x="5668962" y="2378075"/>
            <a:ext cx="457200" cy="59372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lang="en-US">
                <a:solidFill>
                  <a:srgbClr val="000000"/>
                </a:solidFill>
                <a:latin typeface="Calibri" pitchFamily="34" charset="0"/>
              </a:rPr>
              <a:t>⚠️</a:t>
            </a:r>
          </a:p>
        </p:txBody>
      </p:sp>
      <p:sp>
        <p:nvSpPr>
          <p:cNvPr id="1048644" name="Text 13"/>
          <p:cNvSpPr/>
          <p:nvPr/>
        </p:nvSpPr>
        <p:spPr>
          <a:xfrm rot="0">
            <a:off x="6172200" y="2368550"/>
            <a:ext cx="2560637" cy="2555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Urgency</a:t>
            </a:r>
          </a:p>
        </p:txBody>
      </p:sp>
      <p:sp>
        <p:nvSpPr>
          <p:cNvPr id="1048645" name="Text 14"/>
          <p:cNvSpPr/>
          <p:nvPr/>
        </p:nvSpPr>
        <p:spPr>
          <a:xfrm rot="0">
            <a:off x="6172200" y="2633662"/>
            <a:ext cx="2560637" cy="3476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Suspicious login alert creates panic and prompts quick action</a:t>
            </a:r>
          </a:p>
        </p:txBody>
      </p:sp>
      <p:sp>
        <p:nvSpPr>
          <p:cNvPr id="1048646" name="Shape 15"/>
          <p:cNvSpPr/>
          <p:nvPr/>
        </p:nvSpPr>
        <p:spPr>
          <a:xfrm rot="0">
            <a:off x="5578475" y="3154362"/>
            <a:ext cx="3290887" cy="712787"/>
          </a:xfrm>
          <a:prstGeom prst="roundRect">
            <a:avLst>
              <a:gd name="adj" fmla="val 10255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</p:spPr>
      </p:sp>
      <p:sp>
        <p:nvSpPr>
          <p:cNvPr id="1048647" name="Text 16"/>
          <p:cNvSpPr/>
          <p:nvPr/>
        </p:nvSpPr>
        <p:spPr>
          <a:xfrm rot="0">
            <a:off x="5668962" y="3200400"/>
            <a:ext cx="457200" cy="59372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lang="en-US">
                <a:solidFill>
                  <a:srgbClr val="000000"/>
                </a:solidFill>
                <a:latin typeface="Calibri" pitchFamily="34" charset="0"/>
              </a:rPr>
              <a:t>🔗</a:t>
            </a:r>
          </a:p>
        </p:txBody>
      </p:sp>
      <p:sp>
        <p:nvSpPr>
          <p:cNvPr id="1048648" name="Text 17"/>
          <p:cNvSpPr/>
          <p:nvPr/>
        </p:nvSpPr>
        <p:spPr>
          <a:xfrm rot="0">
            <a:off x="6172200" y="3190875"/>
            <a:ext cx="2560637" cy="2571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CTA Link</a:t>
            </a:r>
          </a:p>
        </p:txBody>
      </p:sp>
      <p:sp>
        <p:nvSpPr>
          <p:cNvPr id="1048649" name="Text 18"/>
          <p:cNvSpPr/>
          <p:nvPr/>
        </p:nvSpPr>
        <p:spPr>
          <a:xfrm rot="0">
            <a:off x="6172200" y="3455987"/>
            <a:ext cx="2560637" cy="3476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Embedded phishing link disguised as a security action button</a:t>
            </a:r>
          </a:p>
        </p:txBody>
      </p:sp>
      <p:sp>
        <p:nvSpPr>
          <p:cNvPr id="1048650" name="Shape 19"/>
          <p:cNvSpPr/>
          <p:nvPr/>
        </p:nvSpPr>
        <p:spPr>
          <a:xfrm rot="0">
            <a:off x="5578475" y="3978275"/>
            <a:ext cx="3290887" cy="712787"/>
          </a:xfrm>
          <a:prstGeom prst="roundRect">
            <a:avLst>
              <a:gd name="adj" fmla="val 10255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</p:spPr>
      </p:sp>
      <p:sp>
        <p:nvSpPr>
          <p:cNvPr id="1048651" name="Text 20"/>
          <p:cNvSpPr/>
          <p:nvPr/>
        </p:nvSpPr>
        <p:spPr>
          <a:xfrm rot="0">
            <a:off x="5668962" y="4022725"/>
            <a:ext cx="457200" cy="5953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lang="en-US">
                <a:solidFill>
                  <a:srgbClr val="000000"/>
                </a:solidFill>
                <a:latin typeface="Calibri" pitchFamily="34" charset="0"/>
              </a:rPr>
              <a:t>👤</a:t>
            </a:r>
          </a:p>
        </p:txBody>
      </p:sp>
      <p:sp>
        <p:nvSpPr>
          <p:cNvPr id="1048652" name="Text 21"/>
          <p:cNvSpPr/>
          <p:nvPr/>
        </p:nvSpPr>
        <p:spPr>
          <a:xfrm rot="0">
            <a:off x="6172200" y="4014787"/>
            <a:ext cx="2560637" cy="2555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Personalization</a:t>
            </a:r>
          </a:p>
        </p:txBody>
      </p:sp>
      <p:sp>
        <p:nvSpPr>
          <p:cNvPr id="1048653" name="Text 22"/>
          <p:cNvSpPr/>
          <p:nvPr/>
        </p:nvSpPr>
        <p:spPr>
          <a:xfrm rot="0">
            <a:off x="6172200" y="4279900"/>
            <a:ext cx="2560637" cy="3476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GoPhish {{.FirstName}} merge tag used for custom greeting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FFFFF"/>
        </a:solidFill>
      </p:bgPr>
    </p:bg>
    <p:spTree>
      <p:nvGrpSpPr>
        <p:cNvPr id="1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577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Step 5 – Campaigns Executed</a:t>
            </a:r>
          </a:p>
        </p:txBody>
      </p:sp>
      <p:pic>
        <p:nvPicPr>
          <p:cNvPr id="2097152" name="Image 0" descr="/home/claude/img_campaigns_list.jpg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4637" y="1050925"/>
            <a:ext cx="5119687" cy="3475037"/>
          </a:xfrm>
          <a:prstGeom prst="rect"/>
          <a:noFill/>
          <a:ln>
            <a:noFill/>
          </a:ln>
        </p:spPr>
      </p:pic>
      <p:sp>
        <p:nvSpPr>
          <p:cNvPr id="1048578" name="Text 2"/>
          <p:cNvSpPr/>
          <p:nvPr/>
        </p:nvSpPr>
        <p:spPr>
          <a:xfrm rot="0">
            <a:off x="5668962" y="1096962"/>
            <a:ext cx="32004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600" lang="en-US">
                <a:solidFill>
                  <a:srgbClr val="0D1B2A"/>
                </a:solidFill>
                <a:latin typeface="Cambria" pitchFamily="34" charset="0"/>
                <a:ea typeface="Cambria" pitchFamily="34" charset="-122"/>
              </a:rPr>
              <a:t>4 Test Campaigns Run</a:t>
            </a:r>
          </a:p>
        </p:txBody>
      </p:sp>
      <p:graphicFrame>
        <p:nvGraphicFramePr>
          <p:cNvPr id="4194304" name=""/>
          <p:cNvGraphicFramePr>
            <a:graphicFrameLocks/>
          </p:cNvGraphicFramePr>
          <p:nvPr/>
        </p:nvGraphicFramePr>
        <p:xfrm rot="0">
          <a:off x="5668962" y="1646237"/>
          <a:ext cx="3200400" cy="1219200"/>
        </p:xfrm>
        <a:graphic>
          <a:graphicData uri="http://schemas.openxmlformats.org/drawingml/2006/table">
            <a:tbl>
              <a:tblPr/>
              <a:tblGrid>
                <a:gridCol w="1189037"/>
                <a:gridCol w="1189037"/>
                <a:gridCol w="822325"/>
              </a:tblGrid>
              <a:tr h="244475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000" lang="en-US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Campaign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000" lang="en-US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Date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000" lang="en-US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Status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0D1B2A"/>
                    </a:solidFill>
                  </a:tcPr>
                </a:tc>
              </a:tr>
              <a:tr h="242887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0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instagram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0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June 15, 2026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000" lang="en-US">
                          <a:solidFill>
                            <a:srgbClr val="2DC653"/>
                          </a:solidFill>
                          <a:latin typeface="Calibri" pitchFamily="34" charset="0"/>
                        </a:rPr>
                        <a:t>In Progress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244475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0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Insta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0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June 15, 2026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000" lang="en-US">
                          <a:solidFill>
                            <a:srgbClr val="2DC653"/>
                          </a:solidFill>
                          <a:latin typeface="Calibri" pitchFamily="34" charset="0"/>
                        </a:rPr>
                        <a:t>In Progress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242887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0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insta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0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June 15, 2026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000" lang="en-US">
                          <a:solidFill>
                            <a:srgbClr val="2DC653"/>
                          </a:solidFill>
                          <a:latin typeface="Calibri" pitchFamily="34" charset="0"/>
                        </a:rPr>
                        <a:t>In Progress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244475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0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Instagram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0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June 15, 2026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000" lang="en-US">
                          <a:solidFill>
                            <a:srgbClr val="2DC653"/>
                          </a:solidFill>
                          <a:latin typeface="Calibri" pitchFamily="34" charset="0"/>
                        </a:rPr>
                        <a:t>In Progress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604" name="Text 3"/>
          <p:cNvSpPr/>
          <p:nvPr/>
        </p:nvSpPr>
        <p:spPr>
          <a:xfrm rot="0">
            <a:off x="5668962" y="3200400"/>
            <a:ext cx="3200400" cy="1371600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Multiple iterations were run to refine the email template and test GoPhish configuration before the final campaign.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0D1B2A"/>
        </a:solidFill>
      </p:bgPr>
    </p:bg>
    <p:spTree>
      <p:nvGrpSpPr>
        <p:cNvPr id="3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8" name="Text 0"/>
          <p:cNvSpPr/>
          <p:nvPr/>
        </p:nvSpPr>
        <p:spPr>
          <a:xfrm rot="0">
            <a:off x="365125" y="136525"/>
            <a:ext cx="8413750" cy="641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Campaign Results – Dashboard</a:t>
            </a:r>
          </a:p>
        </p:txBody>
      </p:sp>
      <p:sp>
        <p:nvSpPr>
          <p:cNvPr id="1048609" name="Text 1"/>
          <p:cNvSpPr/>
          <p:nvPr/>
        </p:nvSpPr>
        <p:spPr>
          <a:xfrm rot="0">
            <a:off x="365125" y="749300"/>
            <a:ext cx="822960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2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</a:rPr>
              <a:t>GoPhish real-time tracking from the final 'instagram' campaign</a:t>
            </a:r>
          </a:p>
        </p:txBody>
      </p:sp>
      <p:pic>
        <p:nvPicPr>
          <p:cNvPr id="2097153" name="Image 0" descr="/home/claude/img_dashboard.jpg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4637" y="1096962"/>
            <a:ext cx="5303837" cy="3292475"/>
          </a:xfrm>
          <a:prstGeom prst="rect"/>
          <a:noFill/>
          <a:ln>
            <a:noFill/>
          </a:ln>
        </p:spPr>
      </p:pic>
      <p:sp>
        <p:nvSpPr>
          <p:cNvPr id="1048610" name="Shape 2"/>
          <p:cNvSpPr/>
          <p:nvPr/>
        </p:nvSpPr>
        <p:spPr>
          <a:xfrm rot="0">
            <a:off x="5807075" y="1096962"/>
            <a:ext cx="1416050" cy="91440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 w="254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611" name="Text 3"/>
          <p:cNvSpPr/>
          <p:nvPr/>
        </p:nvSpPr>
        <p:spPr>
          <a:xfrm rot="0">
            <a:off x="5807075" y="1143000"/>
            <a:ext cx="141605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30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</a:rPr>
              <a:t>6</a:t>
            </a:r>
          </a:p>
        </p:txBody>
      </p:sp>
      <p:sp>
        <p:nvSpPr>
          <p:cNvPr id="1048612" name="Text 4"/>
          <p:cNvSpPr/>
          <p:nvPr/>
        </p:nvSpPr>
        <p:spPr>
          <a:xfrm rot="0">
            <a:off x="5807075" y="1600200"/>
            <a:ext cx="1416050" cy="36512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Emails Sent</a:t>
            </a:r>
          </a:p>
        </p:txBody>
      </p:sp>
      <p:sp>
        <p:nvSpPr>
          <p:cNvPr id="1048613" name="Shape 5"/>
          <p:cNvSpPr/>
          <p:nvPr/>
        </p:nvSpPr>
        <p:spPr>
          <a:xfrm rot="0">
            <a:off x="5807075" y="2193925"/>
            <a:ext cx="1416050" cy="91440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 w="25400" cap="flat" cmpd="sng">
            <a:solidFill>
              <a:srgbClr val="F4A261">
                <a:alpha val="100000"/>
              </a:srgbClr>
            </a:solidFill>
            <a:prstDash val="solid"/>
            <a:round/>
          </a:ln>
        </p:spPr>
      </p:sp>
      <p:sp>
        <p:nvSpPr>
          <p:cNvPr id="1048614" name="Text 6"/>
          <p:cNvSpPr/>
          <p:nvPr/>
        </p:nvSpPr>
        <p:spPr>
          <a:xfrm rot="0">
            <a:off x="5807075" y="2239962"/>
            <a:ext cx="141605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3000" lang="en-US">
                <a:solidFill>
                  <a:srgbClr val="F4A261"/>
                </a:solidFill>
                <a:latin typeface="Calibri" pitchFamily="34" charset="0"/>
                <a:ea typeface="Calibri" pitchFamily="34" charset="-122"/>
              </a:rPr>
              <a:t>1</a:t>
            </a:r>
          </a:p>
        </p:txBody>
      </p:sp>
      <p:sp>
        <p:nvSpPr>
          <p:cNvPr id="1048615" name="Text 7"/>
          <p:cNvSpPr/>
          <p:nvPr/>
        </p:nvSpPr>
        <p:spPr>
          <a:xfrm rot="0">
            <a:off x="5807075" y="2697162"/>
            <a:ext cx="1416050" cy="3667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Email Opened</a:t>
            </a:r>
          </a:p>
        </p:txBody>
      </p:sp>
      <p:sp>
        <p:nvSpPr>
          <p:cNvPr id="1048616" name="Shape 8"/>
          <p:cNvSpPr/>
          <p:nvPr/>
        </p:nvSpPr>
        <p:spPr>
          <a:xfrm rot="0">
            <a:off x="5807075" y="3292475"/>
            <a:ext cx="1416050" cy="91440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 w="25400" cap="flat" cmpd="sng">
            <a:solidFill>
              <a:srgbClr val="F4A261">
                <a:alpha val="100000"/>
              </a:srgbClr>
            </a:solidFill>
            <a:prstDash val="solid"/>
            <a:round/>
          </a:ln>
        </p:spPr>
      </p:sp>
      <p:sp>
        <p:nvSpPr>
          <p:cNvPr id="1048617" name="Text 9"/>
          <p:cNvSpPr/>
          <p:nvPr/>
        </p:nvSpPr>
        <p:spPr>
          <a:xfrm rot="0">
            <a:off x="5807075" y="3336925"/>
            <a:ext cx="141605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3000" lang="en-US">
                <a:solidFill>
                  <a:srgbClr val="F4A261"/>
                </a:solidFill>
                <a:latin typeface="Calibri" pitchFamily="34" charset="0"/>
                <a:ea typeface="Calibri" pitchFamily="34" charset="-122"/>
              </a:rPr>
              <a:t>1</a:t>
            </a:r>
          </a:p>
        </p:txBody>
      </p:sp>
      <p:sp>
        <p:nvSpPr>
          <p:cNvPr id="1048618" name="Text 10"/>
          <p:cNvSpPr/>
          <p:nvPr/>
        </p:nvSpPr>
        <p:spPr>
          <a:xfrm rot="0">
            <a:off x="5807075" y="3794125"/>
            <a:ext cx="1416050" cy="3667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Clicked Link</a:t>
            </a:r>
          </a:p>
        </p:txBody>
      </p:sp>
      <p:sp>
        <p:nvSpPr>
          <p:cNvPr id="1048619" name="Shape 11"/>
          <p:cNvSpPr/>
          <p:nvPr/>
        </p:nvSpPr>
        <p:spPr>
          <a:xfrm rot="0">
            <a:off x="7407275" y="1096962"/>
            <a:ext cx="1416050" cy="91440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 w="25400" cap="flat" cmpd="sng">
            <a:solidFill>
              <a:srgbClr val="E63946">
                <a:alpha val="100000"/>
              </a:srgbClr>
            </a:solidFill>
            <a:prstDash val="solid"/>
            <a:round/>
          </a:ln>
        </p:spPr>
      </p:sp>
      <p:sp>
        <p:nvSpPr>
          <p:cNvPr id="1048620" name="Text 12"/>
          <p:cNvSpPr/>
          <p:nvPr/>
        </p:nvSpPr>
        <p:spPr>
          <a:xfrm rot="0">
            <a:off x="7407275" y="1143000"/>
            <a:ext cx="141605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3000" lang="en-US">
                <a:solidFill>
                  <a:srgbClr val="E63946"/>
                </a:solidFill>
                <a:latin typeface="Calibri" pitchFamily="34" charset="0"/>
                <a:ea typeface="Calibri" pitchFamily="34" charset="-122"/>
              </a:rPr>
              <a:t>1</a:t>
            </a:r>
          </a:p>
        </p:txBody>
      </p:sp>
      <p:sp>
        <p:nvSpPr>
          <p:cNvPr id="1048621" name="Text 13"/>
          <p:cNvSpPr/>
          <p:nvPr/>
        </p:nvSpPr>
        <p:spPr>
          <a:xfrm rot="0">
            <a:off x="7407275" y="1600200"/>
            <a:ext cx="1416050" cy="36512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Submitted Data</a:t>
            </a:r>
          </a:p>
        </p:txBody>
      </p:sp>
      <p:sp>
        <p:nvSpPr>
          <p:cNvPr id="1048622" name="Shape 14"/>
          <p:cNvSpPr/>
          <p:nvPr/>
        </p:nvSpPr>
        <p:spPr>
          <a:xfrm rot="0">
            <a:off x="7407275" y="2193925"/>
            <a:ext cx="1416050" cy="91440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 w="25400" cap="flat" cmpd="sng">
            <a:solidFill>
              <a:srgbClr val="8492A6">
                <a:alpha val="100000"/>
              </a:srgbClr>
            </a:solidFill>
            <a:prstDash val="solid"/>
            <a:round/>
          </a:ln>
        </p:spPr>
      </p:sp>
      <p:sp>
        <p:nvSpPr>
          <p:cNvPr id="1048623" name="Text 15"/>
          <p:cNvSpPr/>
          <p:nvPr/>
        </p:nvSpPr>
        <p:spPr>
          <a:xfrm rot="0">
            <a:off x="7407275" y="2239962"/>
            <a:ext cx="141605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30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0</a:t>
            </a:r>
          </a:p>
        </p:txBody>
      </p:sp>
      <p:sp>
        <p:nvSpPr>
          <p:cNvPr id="1048624" name="Text 16"/>
          <p:cNvSpPr/>
          <p:nvPr/>
        </p:nvSpPr>
        <p:spPr>
          <a:xfrm rot="0">
            <a:off x="7407275" y="2697162"/>
            <a:ext cx="1416050" cy="3667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Reported</a:t>
            </a:r>
          </a:p>
        </p:txBody>
      </p:sp>
      <p:sp>
        <p:nvSpPr>
          <p:cNvPr id="1048625" name="Shape 17"/>
          <p:cNvSpPr/>
          <p:nvPr/>
        </p:nvSpPr>
        <p:spPr>
          <a:xfrm rot="0">
            <a:off x="7407275" y="2193925"/>
            <a:ext cx="1416050" cy="91440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 w="25400" cap="flat" cmpd="sng">
            <a:solidFill>
              <a:srgbClr val="8492A6">
                <a:alpha val="100000"/>
              </a:srgbClr>
            </a:solidFill>
            <a:prstDash val="solid"/>
            <a:round/>
          </a:ln>
        </p:spPr>
      </p:sp>
      <p:sp>
        <p:nvSpPr>
          <p:cNvPr id="1048626" name="Text 18"/>
          <p:cNvSpPr/>
          <p:nvPr/>
        </p:nvSpPr>
        <p:spPr>
          <a:xfrm rot="0">
            <a:off x="7407275" y="2239962"/>
            <a:ext cx="141605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30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0</a:t>
            </a:r>
          </a:p>
        </p:txBody>
      </p:sp>
      <p:sp>
        <p:nvSpPr>
          <p:cNvPr id="1048627" name="Text 19"/>
          <p:cNvSpPr/>
          <p:nvPr/>
        </p:nvSpPr>
        <p:spPr>
          <a:xfrm rot="0">
            <a:off x="7407275" y="2697162"/>
            <a:ext cx="1416050" cy="3667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Email Reported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0F4F8"/>
        </a:solidFill>
      </p:bgPr>
    </p:bg>
    <p:spTree>
      <p:nvGrpSpPr>
        <p:cNvPr id="3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7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D1B2A"/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</a:ln>
        </p:spPr>
      </p:sp>
      <p:sp>
        <p:nvSpPr>
          <p:cNvPr id="1048658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Victim Interaction Timeline</a:t>
            </a:r>
          </a:p>
        </p:txBody>
      </p:sp>
      <p:sp>
        <p:nvSpPr>
          <p:cNvPr id="1048659" name="Shape 2"/>
          <p:cNvSpPr/>
          <p:nvPr/>
        </p:nvSpPr>
        <p:spPr>
          <a:xfrm rot="0">
            <a:off x="274637" y="1050925"/>
            <a:ext cx="4022725" cy="3841750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660" name="Text 3"/>
          <p:cNvSpPr/>
          <p:nvPr/>
        </p:nvSpPr>
        <p:spPr>
          <a:xfrm rot="0">
            <a:off x="457200" y="1143000"/>
            <a:ext cx="3657600" cy="36512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3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Target 1: Rachana Varma</a:t>
            </a:r>
          </a:p>
        </p:txBody>
      </p:sp>
      <p:sp>
        <p:nvSpPr>
          <p:cNvPr id="1048661" name="Text 4"/>
          <p:cNvSpPr/>
          <p:nvPr/>
        </p:nvSpPr>
        <p:spPr>
          <a:xfrm rot="0">
            <a:off x="457200" y="1508125"/>
            <a:ext cx="365760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rachana.appani05@gmail.com  |  Premium Member</a:t>
            </a:r>
          </a:p>
        </p:txBody>
      </p:sp>
      <p:sp>
        <p:nvSpPr>
          <p:cNvPr id="1048662" name="Text 5"/>
          <p:cNvSpPr/>
          <p:nvPr/>
        </p:nvSpPr>
        <p:spPr>
          <a:xfrm rot="0">
            <a:off x="457200" y="1920875"/>
            <a:ext cx="2560637" cy="3190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2DC653"/>
                </a:solidFill>
                <a:latin typeface="Calibri" pitchFamily="34" charset="0"/>
                <a:ea typeface="Calibri" pitchFamily="34" charset="-122"/>
              </a:rPr>
              <a:t>✅  Campaign Created</a:t>
            </a:r>
          </a:p>
        </p:txBody>
      </p:sp>
      <p:sp>
        <p:nvSpPr>
          <p:cNvPr id="1048663" name="Text 6"/>
          <p:cNvSpPr/>
          <p:nvPr/>
        </p:nvSpPr>
        <p:spPr>
          <a:xfrm rot="0">
            <a:off x="457200" y="2239962"/>
            <a:ext cx="3475037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June 15, 8:41:13 pm</a:t>
            </a:r>
          </a:p>
        </p:txBody>
      </p:sp>
      <p:sp>
        <p:nvSpPr>
          <p:cNvPr id="1048664" name="Text 7"/>
          <p:cNvSpPr/>
          <p:nvPr/>
        </p:nvSpPr>
        <p:spPr>
          <a:xfrm rot="0">
            <a:off x="457200" y="2789237"/>
            <a:ext cx="2560637" cy="3190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2DC653"/>
                </a:solidFill>
                <a:latin typeface="Calibri" pitchFamily="34" charset="0"/>
                <a:ea typeface="Calibri" pitchFamily="34" charset="-122"/>
              </a:rPr>
              <a:t>📧  Email Sent</a:t>
            </a:r>
          </a:p>
        </p:txBody>
      </p:sp>
      <p:sp>
        <p:nvSpPr>
          <p:cNvPr id="1048665" name="Text 8"/>
          <p:cNvSpPr/>
          <p:nvPr/>
        </p:nvSpPr>
        <p:spPr>
          <a:xfrm rot="0">
            <a:off x="457200" y="3108325"/>
            <a:ext cx="3475037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June 15, 8:41:17 pm</a:t>
            </a:r>
          </a:p>
        </p:txBody>
      </p:sp>
      <p:sp>
        <p:nvSpPr>
          <p:cNvPr id="1048666" name="Text 9"/>
          <p:cNvSpPr/>
          <p:nvPr/>
        </p:nvSpPr>
        <p:spPr>
          <a:xfrm rot="0">
            <a:off x="457200" y="3657600"/>
            <a:ext cx="2560637" cy="3206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⏸️  No further action</a:t>
            </a:r>
          </a:p>
        </p:txBody>
      </p:sp>
      <p:sp>
        <p:nvSpPr>
          <p:cNvPr id="1048667" name="Text 10"/>
          <p:cNvSpPr/>
          <p:nvPr/>
        </p:nvSpPr>
        <p:spPr>
          <a:xfrm rot="0">
            <a:off x="457200" y="3978275"/>
            <a:ext cx="3475037" cy="2730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Did not click</a:t>
            </a:r>
          </a:p>
        </p:txBody>
      </p:sp>
      <p:sp>
        <p:nvSpPr>
          <p:cNvPr id="1048668" name="Shape 11"/>
          <p:cNvSpPr/>
          <p:nvPr/>
        </p:nvSpPr>
        <p:spPr>
          <a:xfrm rot="0">
            <a:off x="4846637" y="1050925"/>
            <a:ext cx="4022725" cy="3841750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669" name="Text 12"/>
          <p:cNvSpPr/>
          <p:nvPr/>
        </p:nvSpPr>
        <p:spPr>
          <a:xfrm rot="0">
            <a:off x="5029200" y="1143000"/>
            <a:ext cx="3657600" cy="36512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300" lang="en-US">
                <a:solidFill>
                  <a:srgbClr val="E63946"/>
                </a:solidFill>
                <a:latin typeface="Calibri" pitchFamily="34" charset="0"/>
                <a:ea typeface="Calibri" pitchFamily="34" charset="-122"/>
              </a:rPr>
              <a:t>Target 2: Rakesh varma</a:t>
            </a:r>
          </a:p>
        </p:txBody>
      </p:sp>
      <p:sp>
        <p:nvSpPr>
          <p:cNvPr id="1048670" name="Text 13"/>
          <p:cNvSpPr/>
          <p:nvPr/>
        </p:nvSpPr>
        <p:spPr>
          <a:xfrm rot="0">
            <a:off x="5029200" y="1508125"/>
            <a:ext cx="365760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appanirachana@gmail.com  |  VIP</a:t>
            </a:r>
          </a:p>
        </p:txBody>
      </p:sp>
      <p:sp>
        <p:nvSpPr>
          <p:cNvPr id="1048671" name="Text 14"/>
          <p:cNvSpPr/>
          <p:nvPr/>
        </p:nvSpPr>
        <p:spPr>
          <a:xfrm rot="0">
            <a:off x="5029200" y="1920875"/>
            <a:ext cx="2560637" cy="2921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2DC653"/>
                </a:solidFill>
                <a:latin typeface="Calibri" pitchFamily="34" charset="0"/>
                <a:ea typeface="Calibri" pitchFamily="34" charset="-122"/>
              </a:rPr>
              <a:t>✅  Campaign Created</a:t>
            </a:r>
          </a:p>
        </p:txBody>
      </p:sp>
      <p:sp>
        <p:nvSpPr>
          <p:cNvPr id="1048672" name="Text 15"/>
          <p:cNvSpPr/>
          <p:nvPr/>
        </p:nvSpPr>
        <p:spPr>
          <a:xfrm rot="0">
            <a:off x="5029200" y="2212975"/>
            <a:ext cx="3475037" cy="2555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June 15, 8:41:13 pm</a:t>
            </a:r>
          </a:p>
        </p:txBody>
      </p:sp>
      <p:sp>
        <p:nvSpPr>
          <p:cNvPr id="1048673" name="Text 16"/>
          <p:cNvSpPr/>
          <p:nvPr/>
        </p:nvSpPr>
        <p:spPr>
          <a:xfrm rot="0">
            <a:off x="5029200" y="2633662"/>
            <a:ext cx="2560637" cy="2921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2DC653"/>
                </a:solidFill>
                <a:latin typeface="Calibri" pitchFamily="34" charset="0"/>
                <a:ea typeface="Calibri" pitchFamily="34" charset="-122"/>
              </a:rPr>
              <a:t>📧  Email Sent</a:t>
            </a:r>
          </a:p>
        </p:txBody>
      </p:sp>
      <p:sp>
        <p:nvSpPr>
          <p:cNvPr id="1048674" name="Text 17"/>
          <p:cNvSpPr/>
          <p:nvPr/>
        </p:nvSpPr>
        <p:spPr>
          <a:xfrm rot="0">
            <a:off x="5029200" y="2925762"/>
            <a:ext cx="3475037" cy="2555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June 15, 8:41:19 pm</a:t>
            </a:r>
          </a:p>
        </p:txBody>
      </p:sp>
      <p:sp>
        <p:nvSpPr>
          <p:cNvPr id="1048675" name="Text 18"/>
          <p:cNvSpPr/>
          <p:nvPr/>
        </p:nvSpPr>
        <p:spPr>
          <a:xfrm rot="0">
            <a:off x="5029200" y="3346450"/>
            <a:ext cx="2560637" cy="2921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F4A261"/>
                </a:solidFill>
                <a:latin typeface="Calibri" pitchFamily="34" charset="0"/>
                <a:ea typeface="Calibri" pitchFamily="34" charset="-122"/>
              </a:rPr>
              <a:t>🔗  Clicked Link</a:t>
            </a:r>
          </a:p>
        </p:txBody>
      </p:sp>
      <p:sp>
        <p:nvSpPr>
          <p:cNvPr id="1048676" name="Text 19"/>
          <p:cNvSpPr/>
          <p:nvPr/>
        </p:nvSpPr>
        <p:spPr>
          <a:xfrm rot="0">
            <a:off x="5029200" y="3638550"/>
            <a:ext cx="3475037" cy="2571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June 15, 8:41:44 pm</a:t>
            </a:r>
          </a:p>
        </p:txBody>
      </p:sp>
      <p:sp>
        <p:nvSpPr>
          <p:cNvPr id="1048677" name="Text 20"/>
          <p:cNvSpPr/>
          <p:nvPr/>
        </p:nvSpPr>
        <p:spPr>
          <a:xfrm rot="0">
            <a:off x="5029200" y="4059237"/>
            <a:ext cx="2560637" cy="2936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E63946"/>
                </a:solidFill>
                <a:latin typeface="Calibri" pitchFamily="34" charset="0"/>
                <a:ea typeface="Calibri" pitchFamily="34" charset="-122"/>
              </a:rPr>
              <a:t>🚨  Submitted Data</a:t>
            </a:r>
          </a:p>
        </p:txBody>
      </p:sp>
      <p:sp>
        <p:nvSpPr>
          <p:cNvPr id="1048678" name="Text 21"/>
          <p:cNvSpPr/>
          <p:nvPr/>
        </p:nvSpPr>
        <p:spPr>
          <a:xfrm rot="0">
            <a:off x="5029200" y="4352925"/>
            <a:ext cx="3475037" cy="2555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June 15, 8:42:19 pm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FFFFF"/>
        </a:solidFill>
      </p:bgPr>
    </p:bg>
    <p:spTree>
      <p:nvGrpSpPr>
        <p:cNvPr id="4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1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E63946"/>
          </a:solidFill>
          <a:ln w="12700" cap="flat" cmpd="sng">
            <a:solidFill>
              <a:srgbClr val="E63946">
                <a:alpha val="100000"/>
              </a:srgbClr>
            </a:solidFill>
            <a:prstDash val="solid"/>
            <a:round/>
          </a:ln>
        </p:spPr>
      </p:sp>
      <p:sp>
        <p:nvSpPr>
          <p:cNvPr id="1048692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🚨  Credentials Successfully Captured</a:t>
            </a:r>
          </a:p>
        </p:txBody>
      </p:sp>
      <p:pic>
        <p:nvPicPr>
          <p:cNvPr id="2097156" name="Image 0" descr="/home/claude/img_credentials.jpg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4637" y="1050925"/>
            <a:ext cx="5303837" cy="3475037"/>
          </a:xfrm>
          <a:prstGeom prst="rect"/>
          <a:noFill/>
          <a:ln>
            <a:noFill/>
          </a:ln>
        </p:spPr>
      </p:pic>
      <p:sp>
        <p:nvSpPr>
          <p:cNvPr id="1048693" name="Text 2"/>
          <p:cNvSpPr/>
          <p:nvPr/>
        </p:nvSpPr>
        <p:spPr>
          <a:xfrm rot="0">
            <a:off x="5851525" y="1096962"/>
            <a:ext cx="3017837" cy="3667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400" lang="en-US">
                <a:solidFill>
                  <a:srgbClr val="0D1B2A"/>
                </a:solidFill>
                <a:latin typeface="Cambria" pitchFamily="34" charset="0"/>
                <a:ea typeface="Cambria" pitchFamily="34" charset="-122"/>
              </a:rPr>
              <a:t>What was captured:</a:t>
            </a:r>
          </a:p>
        </p:txBody>
      </p:sp>
      <p:graphicFrame>
        <p:nvGraphicFramePr>
          <p:cNvPr id="4194305" name=""/>
          <p:cNvGraphicFramePr>
            <a:graphicFrameLocks/>
          </p:cNvGraphicFramePr>
          <p:nvPr/>
        </p:nvGraphicFramePr>
        <p:xfrm rot="0">
          <a:off x="5851525" y="1554162"/>
          <a:ext cx="3017837" cy="777875"/>
        </p:xfrm>
        <a:graphic>
          <a:graphicData uri="http://schemas.openxmlformats.org/drawingml/2006/table">
            <a:tbl>
              <a:tblPr/>
              <a:tblGrid>
                <a:gridCol w="1371599"/>
                <a:gridCol w="1646237"/>
              </a:tblGrid>
              <a:tr h="258762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100" lang="en-US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Parameter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100" lang="en-US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Value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63946"/>
                    </a:solidFill>
                  </a:tcPr>
                </a:tc>
              </a:tr>
              <a:tr h="258762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username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Rachana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0350"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b="1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password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indent="-342900" lvl="0">
                        <a:buFontTx/>
                        <a:buNone/>
                      </a:pPr>
                      <a:r>
                        <a:rPr altLang="zh-CN" sz="1100" lang="en-US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password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E8EDF2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707" name="Text 3"/>
          <p:cNvSpPr/>
          <p:nvPr/>
        </p:nvSpPr>
        <p:spPr>
          <a:xfrm rot="0">
            <a:off x="5851525" y="2378075"/>
            <a:ext cx="3017837" cy="4111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⚠  Device: Android OS 10, Chrome 147.0.0.0</a:t>
            </a:r>
          </a:p>
        </p:txBody>
      </p:sp>
      <p:sp>
        <p:nvSpPr>
          <p:cNvPr id="1048708" name="Text 4"/>
          <p:cNvSpPr/>
          <p:nvPr/>
        </p:nvSpPr>
        <p:spPr>
          <a:xfrm rot="0">
            <a:off x="5851525" y="2879725"/>
            <a:ext cx="3017837" cy="4127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⚠  Submitted within 1 minute of email delivery</a:t>
            </a:r>
          </a:p>
        </p:txBody>
      </p:sp>
      <p:sp>
        <p:nvSpPr>
          <p:cNvPr id="1048709" name="Text 5"/>
          <p:cNvSpPr/>
          <p:nvPr/>
        </p:nvSpPr>
        <p:spPr>
          <a:xfrm rot="0">
            <a:off x="5851525" y="3382962"/>
            <a:ext cx="3017837" cy="4111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⚠  User was redirected to real Instagram after submission</a:t>
            </a:r>
          </a:p>
        </p:txBody>
      </p:sp>
      <p:sp>
        <p:nvSpPr>
          <p:cNvPr id="1048710" name="Text 6"/>
          <p:cNvSpPr/>
          <p:nvPr/>
        </p:nvSpPr>
        <p:spPr>
          <a:xfrm rot="0">
            <a:off x="5851525" y="3886200"/>
            <a:ext cx="3017837" cy="4111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⚠  Passwords stored in GoPhish DB as cleartext (lab only)</a:t>
            </a:r>
          </a:p>
        </p:txBody>
      </p:sp>
      <p:sp>
        <p:nvSpPr>
          <p:cNvPr id="1048711" name="Shape 7"/>
          <p:cNvSpPr/>
          <p:nvPr/>
        </p:nvSpPr>
        <p:spPr>
          <a:xfrm rot="0">
            <a:off x="5851525" y="4435475"/>
            <a:ext cx="3017837" cy="501650"/>
          </a:xfrm>
          <a:prstGeom prst="roundRect">
            <a:avLst>
              <a:gd name="adj" fmla="val 14546"/>
            </a:avLst>
          </a:prstGeom>
          <a:solidFill>
            <a:srgbClr val="FFF3CD"/>
          </a:solidFill>
          <a:ln w="12700" cap="flat" cmpd="sng">
            <a:solidFill>
              <a:srgbClr val="F4A261">
                <a:alpha val="100000"/>
              </a:srgbClr>
            </a:solidFill>
            <a:prstDash val="solid"/>
            <a:round/>
          </a:ln>
        </p:spPr>
      </p:sp>
      <p:sp>
        <p:nvSpPr>
          <p:cNvPr id="1048712" name="Text 8"/>
          <p:cNvSpPr/>
          <p:nvPr/>
        </p:nvSpPr>
        <p:spPr>
          <a:xfrm rot="0">
            <a:off x="5943600" y="4479925"/>
            <a:ext cx="2835275" cy="4127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900" lang="en-US">
                <a:solidFill>
                  <a:srgbClr val="7B4F00"/>
                </a:solidFill>
                <a:latin typeface="Calibri" pitchFamily="34" charset="0"/>
                <a:ea typeface="Calibri" pitchFamily="34" charset="-122"/>
              </a:rPr>
              <a:t>⚠️  For authorized lab use only — not intended for real attacks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0F4F8"/>
        </a:solidFill>
      </p:bgPr>
    </p:bg>
    <p:spTree>
      <p:nvGrpSpPr>
        <p:cNvPr id="6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00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D1B2A"/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</a:ln>
        </p:spPr>
      </p:sp>
      <p:sp>
        <p:nvSpPr>
          <p:cNvPr id="1048801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Key Findings &amp; Attack Analysis</a:t>
            </a:r>
          </a:p>
        </p:txBody>
      </p:sp>
      <p:graphicFrame>
        <p:nvGraphicFramePr>
          <p:cNvPr id="4194308" name=""/>
          <p:cNvGraphicFramePr>
            <a:graphicFrameLocks/>
          </p:cNvGraphicFramePr>
          <p:nvPr/>
        </p:nvGraphicFramePr>
        <p:xfrm rot="0">
          <a:off x="274637" y="1050925"/>
          <a:ext cx="4389437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" spid="" imgH="3200400" imgW="4389437" showAsIcon="0" progId="excel.sheet.8">
                  <p:embed followColorScheme="full"/>
                  <p:pic>
                    <p:nvPicPr>
                      <p:cNvPr id="2097159" name="Chart 3"/>
                      <p:cNvPicPr>
                        <a:picLocks/>
                      </p:cNvPicPr>
                      <p:nvPr/>
                    </p:nvPicPr>
                    <p:blipFill>
                      <a:blip xmlns:r="http://schemas.openxmlformats.org/officeDocument/2006/relationships" r:embed="rId2"/>
                      <a:srcRect l="0" t="0" r="0" b="0"/>
                      <a:stretch>
                        <a:fillRect/>
                      </a:stretch>
                    </p:blipFill>
                    <p:spPr>
                      <a:xfrm rot="0">
                        <a:off x="274637" y="1050925"/>
                        <a:ext cx="4389437" cy="3200400"/>
                      </a:xfrm>
                      <a:prstGeom prst="rect"/>
                      <a:noFill/>
                      <a:ln>
                        <a:noFill/>
                      </a:ln>
                    </p:spPr>
                  </p:pic>
                </p:oleObj>
              </mc:Choice>
              <mc:Fallback>
                <p:oleObj r:id="rId1" spid="" imgH="3200400" imgW="4389437" showAsIcon="0" progId="excel.sheet.8">
                  <p:embed followColorScheme="full"/>
                  <p:pic>
                    <p:nvPicPr>
                      <p:cNvPr id="2097159" name="Chart 3"/>
                      <p:cNvPicPr>
                        <a:picLocks/>
                      </p:cNvPicPr>
                      <p:nvPr/>
                    </p:nvPicPr>
                    <p:blipFill>
                      <a:blip xmlns:r="http://schemas.openxmlformats.org/officeDocument/2006/relationships" r:embed="rId2"/>
                      <a:srcRect l="0" t="0" r="0" b="0"/>
                      <a:stretch>
                        <a:fillRect/>
                      </a:stretch>
                    </p:blipFill>
                    <p:spPr>
                      <a:xfrm rot="0">
                        <a:off x="274637" y="1050925"/>
                        <a:ext cx="4389437" cy="3200400"/>
                      </a:xfrm>
                      <a:prstGeom prst="rect"/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802" name="Shape 2"/>
          <p:cNvSpPr/>
          <p:nvPr/>
        </p:nvSpPr>
        <p:spPr>
          <a:xfrm rot="0">
            <a:off x="4846637" y="1050925"/>
            <a:ext cx="1919287" cy="1509712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03" name="Text 3"/>
          <p:cNvSpPr/>
          <p:nvPr/>
        </p:nvSpPr>
        <p:spPr>
          <a:xfrm rot="0">
            <a:off x="4846637" y="1143000"/>
            <a:ext cx="1919287" cy="5492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2600" lang="en-US">
                <a:solidFill>
                  <a:srgbClr val="F4A261"/>
                </a:solidFill>
                <a:latin typeface="Cambria" pitchFamily="34" charset="0"/>
                <a:ea typeface="Cambria" pitchFamily="34" charset="-122"/>
              </a:rPr>
              <a:t>50%</a:t>
            </a:r>
          </a:p>
        </p:txBody>
      </p:sp>
      <p:sp>
        <p:nvSpPr>
          <p:cNvPr id="1048804" name="Text 4"/>
          <p:cNvSpPr/>
          <p:nvPr/>
        </p:nvSpPr>
        <p:spPr>
          <a:xfrm rot="0">
            <a:off x="4846637" y="1692275"/>
            <a:ext cx="1919287" cy="2730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Click Rate</a:t>
            </a:r>
          </a:p>
        </p:txBody>
      </p:sp>
      <p:sp>
        <p:nvSpPr>
          <p:cNvPr id="1048805" name="Text 5"/>
          <p:cNvSpPr/>
          <p:nvPr/>
        </p:nvSpPr>
        <p:spPr>
          <a:xfrm rot="0">
            <a:off x="4937125" y="1965325"/>
            <a:ext cx="1738312" cy="5032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1 out of 2 users clicked the phishing link</a:t>
            </a:r>
          </a:p>
        </p:txBody>
      </p:sp>
      <p:sp>
        <p:nvSpPr>
          <p:cNvPr id="1048806" name="Shape 6"/>
          <p:cNvSpPr/>
          <p:nvPr/>
        </p:nvSpPr>
        <p:spPr>
          <a:xfrm rot="0">
            <a:off x="6904037" y="1050925"/>
            <a:ext cx="1919287" cy="1509712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07" name="Text 7"/>
          <p:cNvSpPr/>
          <p:nvPr/>
        </p:nvSpPr>
        <p:spPr>
          <a:xfrm rot="0">
            <a:off x="6904037" y="1143000"/>
            <a:ext cx="1919287" cy="5492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2600" lang="en-US">
                <a:solidFill>
                  <a:srgbClr val="E63946"/>
                </a:solidFill>
                <a:latin typeface="Cambria" pitchFamily="34" charset="0"/>
                <a:ea typeface="Cambria" pitchFamily="34" charset="-122"/>
              </a:rPr>
              <a:t>50%</a:t>
            </a:r>
          </a:p>
        </p:txBody>
      </p:sp>
      <p:sp>
        <p:nvSpPr>
          <p:cNvPr id="1048808" name="Text 8"/>
          <p:cNvSpPr/>
          <p:nvPr/>
        </p:nvSpPr>
        <p:spPr>
          <a:xfrm rot="0">
            <a:off x="6904037" y="1692275"/>
            <a:ext cx="1919287" cy="2730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Submit Rate</a:t>
            </a:r>
          </a:p>
        </p:txBody>
      </p:sp>
      <p:sp>
        <p:nvSpPr>
          <p:cNvPr id="1048809" name="Text 9"/>
          <p:cNvSpPr/>
          <p:nvPr/>
        </p:nvSpPr>
        <p:spPr>
          <a:xfrm rot="0">
            <a:off x="6994525" y="1965325"/>
            <a:ext cx="1738312" cy="5032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1 out of 2 users submitted real credentials</a:t>
            </a:r>
          </a:p>
        </p:txBody>
      </p:sp>
      <p:sp>
        <p:nvSpPr>
          <p:cNvPr id="1048810" name="Shape 10"/>
          <p:cNvSpPr/>
          <p:nvPr/>
        </p:nvSpPr>
        <p:spPr>
          <a:xfrm rot="0">
            <a:off x="4846637" y="2743200"/>
            <a:ext cx="1919287" cy="1508125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11" name="Text 11"/>
          <p:cNvSpPr/>
          <p:nvPr/>
        </p:nvSpPr>
        <p:spPr>
          <a:xfrm rot="0">
            <a:off x="4846637" y="2835275"/>
            <a:ext cx="1919287" cy="5476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2600" lang="en-US">
                <a:solidFill>
                  <a:srgbClr val="8492A6"/>
                </a:solidFill>
                <a:latin typeface="Cambria" pitchFamily="34" charset="0"/>
                <a:ea typeface="Cambria" pitchFamily="34" charset="-122"/>
              </a:rPr>
              <a:t>0%</a:t>
            </a:r>
          </a:p>
        </p:txBody>
      </p:sp>
      <p:sp>
        <p:nvSpPr>
          <p:cNvPr id="1048812" name="Text 12"/>
          <p:cNvSpPr/>
          <p:nvPr/>
        </p:nvSpPr>
        <p:spPr>
          <a:xfrm rot="0">
            <a:off x="4846637" y="3382962"/>
            <a:ext cx="1919287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Report Rate</a:t>
            </a:r>
          </a:p>
        </p:txBody>
      </p:sp>
      <p:sp>
        <p:nvSpPr>
          <p:cNvPr id="1048813" name="Text 13"/>
          <p:cNvSpPr/>
          <p:nvPr/>
        </p:nvSpPr>
        <p:spPr>
          <a:xfrm rot="0">
            <a:off x="4937125" y="3657600"/>
            <a:ext cx="1738312" cy="5032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Neither user reported the suspicious email</a:t>
            </a:r>
          </a:p>
        </p:txBody>
      </p:sp>
      <p:sp>
        <p:nvSpPr>
          <p:cNvPr id="1048814" name="Shape 14"/>
          <p:cNvSpPr/>
          <p:nvPr/>
        </p:nvSpPr>
        <p:spPr>
          <a:xfrm rot="0">
            <a:off x="6904037" y="2743200"/>
            <a:ext cx="1919287" cy="1508125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15" name="Text 15"/>
          <p:cNvSpPr/>
          <p:nvPr/>
        </p:nvSpPr>
        <p:spPr>
          <a:xfrm rot="0">
            <a:off x="6904037" y="2835275"/>
            <a:ext cx="1919287" cy="5476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2600" lang="en-US">
                <a:solidFill>
                  <a:srgbClr val="0077B6"/>
                </a:solidFill>
                <a:latin typeface="Cambria" pitchFamily="34" charset="0"/>
                <a:ea typeface="Cambria" pitchFamily="34" charset="-122"/>
              </a:rPr>
              <a:t>25s</a:t>
            </a:r>
          </a:p>
        </p:txBody>
      </p:sp>
      <p:sp>
        <p:nvSpPr>
          <p:cNvPr id="1048816" name="Text 16"/>
          <p:cNvSpPr/>
          <p:nvPr/>
        </p:nvSpPr>
        <p:spPr>
          <a:xfrm rot="0">
            <a:off x="6904037" y="3382962"/>
            <a:ext cx="1919287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Time to Click</a:t>
            </a:r>
          </a:p>
        </p:txBody>
      </p:sp>
      <p:sp>
        <p:nvSpPr>
          <p:cNvPr id="1048817" name="Text 17"/>
          <p:cNvSpPr/>
          <p:nvPr/>
        </p:nvSpPr>
        <p:spPr>
          <a:xfrm rot="0">
            <a:off x="6994525" y="3657600"/>
            <a:ext cx="1738312" cy="5032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Rakesh clicked within 25 seconds of receiving the email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FFFFF"/>
        </a:solidFill>
      </p:bgPr>
    </p:bg>
    <p:spTree>
      <p:nvGrpSpPr>
        <p:cNvPr id="6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21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822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Full Phishing Attack Chain</a:t>
            </a:r>
          </a:p>
        </p:txBody>
      </p:sp>
      <p:sp>
        <p:nvSpPr>
          <p:cNvPr id="1048823" name="Shape 2"/>
          <p:cNvSpPr/>
          <p:nvPr/>
        </p:nvSpPr>
        <p:spPr>
          <a:xfrm rot="0">
            <a:off x="274637" y="1050925"/>
            <a:ext cx="2743200" cy="1738312"/>
          </a:xfrm>
          <a:prstGeom prst="roundRect">
            <a:avLst>
              <a:gd name="adj" fmla="val 6315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24" name="Shape 3"/>
          <p:cNvSpPr/>
          <p:nvPr/>
        </p:nvSpPr>
        <p:spPr>
          <a:xfrm rot="0">
            <a:off x="365125" y="1162050"/>
            <a:ext cx="457200" cy="457200"/>
          </a:xfrm>
          <a:prstGeom prst="ellipse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825" name="Text 4"/>
          <p:cNvSpPr/>
          <p:nvPr/>
        </p:nvSpPr>
        <p:spPr>
          <a:xfrm rot="0">
            <a:off x="365125" y="1162050"/>
            <a:ext cx="457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1</a:t>
            </a:r>
          </a:p>
        </p:txBody>
      </p:sp>
      <p:sp>
        <p:nvSpPr>
          <p:cNvPr id="1048826" name="Text 5"/>
          <p:cNvSpPr/>
          <p:nvPr/>
        </p:nvSpPr>
        <p:spPr>
          <a:xfrm rot="0">
            <a:off x="914400" y="1189037"/>
            <a:ext cx="2011362" cy="4111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Attacker Setup</a:t>
            </a:r>
          </a:p>
        </p:txBody>
      </p:sp>
      <p:sp>
        <p:nvSpPr>
          <p:cNvPr id="1048827" name="Text 6"/>
          <p:cNvSpPr/>
          <p:nvPr/>
        </p:nvSpPr>
        <p:spPr>
          <a:xfrm rot="0">
            <a:off x="411162" y="1692275"/>
            <a:ext cx="2514600" cy="1004887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GoPhish configured with Gmail SMTP, fake sender identity 'Instagram'</a:t>
            </a:r>
          </a:p>
        </p:txBody>
      </p:sp>
      <p:sp>
        <p:nvSpPr>
          <p:cNvPr id="1048828" name="Shape 7"/>
          <p:cNvSpPr/>
          <p:nvPr/>
        </p:nvSpPr>
        <p:spPr>
          <a:xfrm rot="0">
            <a:off x="3200400" y="1050925"/>
            <a:ext cx="2743200" cy="1738312"/>
          </a:xfrm>
          <a:prstGeom prst="roundRect">
            <a:avLst>
              <a:gd name="adj" fmla="val 6315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29" name="Shape 8"/>
          <p:cNvSpPr/>
          <p:nvPr/>
        </p:nvSpPr>
        <p:spPr>
          <a:xfrm rot="0">
            <a:off x="3292475" y="1162050"/>
            <a:ext cx="457200" cy="457200"/>
          </a:xfrm>
          <a:prstGeom prst="ellipse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830" name="Text 9"/>
          <p:cNvSpPr/>
          <p:nvPr/>
        </p:nvSpPr>
        <p:spPr>
          <a:xfrm rot="0">
            <a:off x="3292475" y="1162050"/>
            <a:ext cx="457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2</a:t>
            </a:r>
          </a:p>
        </p:txBody>
      </p:sp>
      <p:sp>
        <p:nvSpPr>
          <p:cNvPr id="1048831" name="Text 10"/>
          <p:cNvSpPr/>
          <p:nvPr/>
        </p:nvSpPr>
        <p:spPr>
          <a:xfrm rot="0">
            <a:off x="3840162" y="1189037"/>
            <a:ext cx="2011362" cy="4111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Phishing Email Sent</a:t>
            </a:r>
          </a:p>
        </p:txBody>
      </p:sp>
      <p:sp>
        <p:nvSpPr>
          <p:cNvPr id="1048832" name="Text 11"/>
          <p:cNvSpPr/>
          <p:nvPr/>
        </p:nvSpPr>
        <p:spPr>
          <a:xfrm rot="0">
            <a:off x="3336925" y="1692275"/>
            <a:ext cx="2514600" cy="1004887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Urgent 'suspicious login' email delivered to 2 targets on June 15</a:t>
            </a:r>
          </a:p>
        </p:txBody>
      </p:sp>
      <p:sp>
        <p:nvSpPr>
          <p:cNvPr id="1048833" name="Shape 12"/>
          <p:cNvSpPr/>
          <p:nvPr/>
        </p:nvSpPr>
        <p:spPr>
          <a:xfrm rot="0">
            <a:off x="6126162" y="1050925"/>
            <a:ext cx="2743200" cy="1738312"/>
          </a:xfrm>
          <a:prstGeom prst="roundRect">
            <a:avLst>
              <a:gd name="adj" fmla="val 6315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34" name="Shape 13"/>
          <p:cNvSpPr/>
          <p:nvPr/>
        </p:nvSpPr>
        <p:spPr>
          <a:xfrm rot="0">
            <a:off x="6218237" y="1162050"/>
            <a:ext cx="457200" cy="457200"/>
          </a:xfrm>
          <a:prstGeom prst="ellipse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835" name="Text 14"/>
          <p:cNvSpPr/>
          <p:nvPr/>
        </p:nvSpPr>
        <p:spPr>
          <a:xfrm rot="0">
            <a:off x="6218237" y="1162050"/>
            <a:ext cx="457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3</a:t>
            </a:r>
          </a:p>
        </p:txBody>
      </p:sp>
      <p:sp>
        <p:nvSpPr>
          <p:cNvPr id="1048836" name="Text 15"/>
          <p:cNvSpPr/>
          <p:nvPr/>
        </p:nvSpPr>
        <p:spPr>
          <a:xfrm rot="0">
            <a:off x="6765925" y="1189037"/>
            <a:ext cx="2012950" cy="4111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Victim Clicks Link</a:t>
            </a:r>
          </a:p>
        </p:txBody>
      </p:sp>
      <p:sp>
        <p:nvSpPr>
          <p:cNvPr id="1048837" name="Text 16"/>
          <p:cNvSpPr/>
          <p:nvPr/>
        </p:nvSpPr>
        <p:spPr>
          <a:xfrm rot="0">
            <a:off x="6264275" y="1692275"/>
            <a:ext cx="2514600" cy="1004887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Rakesh clicked the embedded link within 25 seconds on Android/Chrome</a:t>
            </a:r>
          </a:p>
        </p:txBody>
      </p:sp>
      <p:sp>
        <p:nvSpPr>
          <p:cNvPr id="1048838" name="Shape 17"/>
          <p:cNvSpPr/>
          <p:nvPr/>
        </p:nvSpPr>
        <p:spPr>
          <a:xfrm rot="0">
            <a:off x="274637" y="2971800"/>
            <a:ext cx="2743200" cy="1736725"/>
          </a:xfrm>
          <a:prstGeom prst="roundRect">
            <a:avLst>
              <a:gd name="adj" fmla="val 6315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39" name="Shape 18"/>
          <p:cNvSpPr/>
          <p:nvPr/>
        </p:nvSpPr>
        <p:spPr>
          <a:xfrm rot="0">
            <a:off x="365125" y="3081337"/>
            <a:ext cx="457200" cy="457200"/>
          </a:xfrm>
          <a:prstGeom prst="ellipse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840" name="Text 19"/>
          <p:cNvSpPr/>
          <p:nvPr/>
        </p:nvSpPr>
        <p:spPr>
          <a:xfrm rot="0">
            <a:off x="365125" y="3081337"/>
            <a:ext cx="457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4</a:t>
            </a:r>
          </a:p>
        </p:txBody>
      </p:sp>
      <p:sp>
        <p:nvSpPr>
          <p:cNvPr id="1048841" name="Text 20"/>
          <p:cNvSpPr/>
          <p:nvPr/>
        </p:nvSpPr>
        <p:spPr>
          <a:xfrm rot="0">
            <a:off x="914400" y="3108325"/>
            <a:ext cx="2011362" cy="4127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Fake Login Page</a:t>
            </a:r>
          </a:p>
        </p:txBody>
      </p:sp>
      <p:sp>
        <p:nvSpPr>
          <p:cNvPr id="1048842" name="Text 21"/>
          <p:cNvSpPr/>
          <p:nvPr/>
        </p:nvSpPr>
        <p:spPr>
          <a:xfrm rot="0">
            <a:off x="411162" y="3611562"/>
            <a:ext cx="2514600" cy="1006475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Presented with convincing Instagram clone page to enter credentials</a:t>
            </a:r>
          </a:p>
        </p:txBody>
      </p:sp>
      <p:sp>
        <p:nvSpPr>
          <p:cNvPr id="1048843" name="Shape 22"/>
          <p:cNvSpPr/>
          <p:nvPr/>
        </p:nvSpPr>
        <p:spPr>
          <a:xfrm rot="0">
            <a:off x="3200400" y="2971800"/>
            <a:ext cx="2743200" cy="1736725"/>
          </a:xfrm>
          <a:prstGeom prst="roundRect">
            <a:avLst>
              <a:gd name="adj" fmla="val 6315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44" name="Shape 23"/>
          <p:cNvSpPr/>
          <p:nvPr/>
        </p:nvSpPr>
        <p:spPr>
          <a:xfrm rot="0">
            <a:off x="3292475" y="3081337"/>
            <a:ext cx="457200" cy="457200"/>
          </a:xfrm>
          <a:prstGeom prst="ellipse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845" name="Text 24"/>
          <p:cNvSpPr/>
          <p:nvPr/>
        </p:nvSpPr>
        <p:spPr>
          <a:xfrm rot="0">
            <a:off x="3292475" y="3081337"/>
            <a:ext cx="457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5</a:t>
            </a:r>
          </a:p>
        </p:txBody>
      </p:sp>
      <p:sp>
        <p:nvSpPr>
          <p:cNvPr id="1048846" name="Text 25"/>
          <p:cNvSpPr/>
          <p:nvPr/>
        </p:nvSpPr>
        <p:spPr>
          <a:xfrm rot="0">
            <a:off x="3840162" y="3108325"/>
            <a:ext cx="2011362" cy="4127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Credentials Captured</a:t>
            </a:r>
          </a:p>
        </p:txBody>
      </p:sp>
      <p:sp>
        <p:nvSpPr>
          <p:cNvPr id="1048847" name="Text 26"/>
          <p:cNvSpPr/>
          <p:nvPr/>
        </p:nvSpPr>
        <p:spPr>
          <a:xfrm rot="0">
            <a:off x="3336925" y="3611562"/>
            <a:ext cx="2514600" cy="1006475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Username &amp; password submitted and stored in GoPhish database</a:t>
            </a:r>
          </a:p>
        </p:txBody>
      </p:sp>
      <p:sp>
        <p:nvSpPr>
          <p:cNvPr id="1048848" name="Shape 27"/>
          <p:cNvSpPr/>
          <p:nvPr/>
        </p:nvSpPr>
        <p:spPr>
          <a:xfrm rot="0">
            <a:off x="6126162" y="2971800"/>
            <a:ext cx="2743200" cy="1736725"/>
          </a:xfrm>
          <a:prstGeom prst="roundRect">
            <a:avLst>
              <a:gd name="adj" fmla="val 6315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49" name="Shape 28"/>
          <p:cNvSpPr/>
          <p:nvPr/>
        </p:nvSpPr>
        <p:spPr>
          <a:xfrm rot="0">
            <a:off x="6218237" y="3081337"/>
            <a:ext cx="457200" cy="457200"/>
          </a:xfrm>
          <a:prstGeom prst="ellipse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850" name="Text 29"/>
          <p:cNvSpPr/>
          <p:nvPr/>
        </p:nvSpPr>
        <p:spPr>
          <a:xfrm rot="0">
            <a:off x="6218237" y="3081337"/>
            <a:ext cx="457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6</a:t>
            </a:r>
          </a:p>
        </p:txBody>
      </p:sp>
      <p:sp>
        <p:nvSpPr>
          <p:cNvPr id="1048851" name="Text 30"/>
          <p:cNvSpPr/>
          <p:nvPr/>
        </p:nvSpPr>
        <p:spPr>
          <a:xfrm rot="0">
            <a:off x="6765925" y="3108325"/>
            <a:ext cx="2012950" cy="4127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Silent Redirect</a:t>
            </a:r>
          </a:p>
        </p:txBody>
      </p:sp>
      <p:sp>
        <p:nvSpPr>
          <p:cNvPr id="1048852" name="Text 31"/>
          <p:cNvSpPr/>
          <p:nvPr/>
        </p:nvSpPr>
        <p:spPr>
          <a:xfrm rot="0">
            <a:off x="6264275" y="3611562"/>
            <a:ext cx="2514600" cy="1006475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User redirected to real Instagram — completely unaware of compromise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0F4F8"/>
        </a:solidFill>
      </p:bgPr>
    </p:bg>
    <p:spTree>
      <p:nvGrpSpPr>
        <p:cNvPr id="6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6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D1B2A"/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</a:ln>
        </p:spPr>
      </p:sp>
      <p:sp>
        <p:nvSpPr>
          <p:cNvPr id="1048857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MITRE ATT&amp;CK Mapping</a:t>
            </a:r>
          </a:p>
        </p:txBody>
      </p:sp>
      <p:sp>
        <p:nvSpPr>
          <p:cNvPr id="1048858" name="Shape 2"/>
          <p:cNvSpPr/>
          <p:nvPr/>
        </p:nvSpPr>
        <p:spPr>
          <a:xfrm rot="0">
            <a:off x="274637" y="1050925"/>
            <a:ext cx="4114800" cy="1171575"/>
          </a:xfrm>
          <a:prstGeom prst="roundRect">
            <a:avLst>
              <a:gd name="adj" fmla="val 7815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59" name="Shape 3"/>
          <p:cNvSpPr/>
          <p:nvPr/>
        </p:nvSpPr>
        <p:spPr>
          <a:xfrm rot="0">
            <a:off x="365125" y="1143000"/>
            <a:ext cx="1098550" cy="274637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860" name="Text 4"/>
          <p:cNvSpPr/>
          <p:nvPr/>
        </p:nvSpPr>
        <p:spPr>
          <a:xfrm rot="0">
            <a:off x="365125" y="1143000"/>
            <a:ext cx="109855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T1566.001</a:t>
            </a:r>
          </a:p>
        </p:txBody>
      </p:sp>
      <p:sp>
        <p:nvSpPr>
          <p:cNvPr id="1048861" name="Text 5"/>
          <p:cNvSpPr/>
          <p:nvPr/>
        </p:nvSpPr>
        <p:spPr>
          <a:xfrm rot="0">
            <a:off x="1554162" y="1143000"/>
            <a:ext cx="274320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Initial Access</a:t>
            </a:r>
          </a:p>
        </p:txBody>
      </p:sp>
      <p:sp>
        <p:nvSpPr>
          <p:cNvPr id="1048862" name="Text 6"/>
          <p:cNvSpPr/>
          <p:nvPr/>
        </p:nvSpPr>
        <p:spPr>
          <a:xfrm rot="0">
            <a:off x="365125" y="1481137"/>
            <a:ext cx="3932237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Spearphishing Attachment/Link</a:t>
            </a:r>
          </a:p>
        </p:txBody>
      </p:sp>
      <p:sp>
        <p:nvSpPr>
          <p:cNvPr id="1048863" name="Text 7"/>
          <p:cNvSpPr/>
          <p:nvPr/>
        </p:nvSpPr>
        <p:spPr>
          <a:xfrm rot="0">
            <a:off x="365125" y="1782762"/>
            <a:ext cx="3932237" cy="3667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Sent phishing email with embedded credential-harvesting URL</a:t>
            </a:r>
          </a:p>
        </p:txBody>
      </p:sp>
      <p:sp>
        <p:nvSpPr>
          <p:cNvPr id="1048864" name="Shape 8"/>
          <p:cNvSpPr/>
          <p:nvPr/>
        </p:nvSpPr>
        <p:spPr>
          <a:xfrm rot="0">
            <a:off x="4664075" y="1050925"/>
            <a:ext cx="4114800" cy="1171575"/>
          </a:xfrm>
          <a:prstGeom prst="roundRect">
            <a:avLst>
              <a:gd name="adj" fmla="val 7815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65" name="Shape 9"/>
          <p:cNvSpPr/>
          <p:nvPr/>
        </p:nvSpPr>
        <p:spPr>
          <a:xfrm rot="0">
            <a:off x="4754562" y="1143000"/>
            <a:ext cx="1096962" cy="274637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866" name="Text 10"/>
          <p:cNvSpPr/>
          <p:nvPr/>
        </p:nvSpPr>
        <p:spPr>
          <a:xfrm rot="0">
            <a:off x="4754562" y="1143000"/>
            <a:ext cx="1096962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T1598.003</a:t>
            </a:r>
          </a:p>
        </p:txBody>
      </p:sp>
      <p:sp>
        <p:nvSpPr>
          <p:cNvPr id="1048867" name="Text 11"/>
          <p:cNvSpPr/>
          <p:nvPr/>
        </p:nvSpPr>
        <p:spPr>
          <a:xfrm rot="0">
            <a:off x="5943600" y="1143000"/>
            <a:ext cx="274320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Reconnaissance</a:t>
            </a:r>
          </a:p>
        </p:txBody>
      </p:sp>
      <p:sp>
        <p:nvSpPr>
          <p:cNvPr id="1048868" name="Text 12"/>
          <p:cNvSpPr/>
          <p:nvPr/>
        </p:nvSpPr>
        <p:spPr>
          <a:xfrm rot="0">
            <a:off x="4754562" y="1481137"/>
            <a:ext cx="3932237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Phishing for Information</a:t>
            </a:r>
          </a:p>
        </p:txBody>
      </p:sp>
      <p:sp>
        <p:nvSpPr>
          <p:cNvPr id="1048869" name="Text 13"/>
          <p:cNvSpPr/>
          <p:nvPr/>
        </p:nvSpPr>
        <p:spPr>
          <a:xfrm rot="0">
            <a:off x="4754562" y="1782762"/>
            <a:ext cx="3932237" cy="3667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Collected credentials via fake Instagram login form</a:t>
            </a:r>
          </a:p>
        </p:txBody>
      </p:sp>
      <p:sp>
        <p:nvSpPr>
          <p:cNvPr id="1048870" name="Shape 14"/>
          <p:cNvSpPr/>
          <p:nvPr/>
        </p:nvSpPr>
        <p:spPr>
          <a:xfrm rot="0">
            <a:off x="274637" y="2378075"/>
            <a:ext cx="4114800" cy="1169987"/>
          </a:xfrm>
          <a:prstGeom prst="roundRect">
            <a:avLst>
              <a:gd name="adj" fmla="val 7815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71" name="Shape 15"/>
          <p:cNvSpPr/>
          <p:nvPr/>
        </p:nvSpPr>
        <p:spPr>
          <a:xfrm rot="0">
            <a:off x="365125" y="2468562"/>
            <a:ext cx="1098550" cy="274637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872" name="Text 16"/>
          <p:cNvSpPr/>
          <p:nvPr/>
        </p:nvSpPr>
        <p:spPr>
          <a:xfrm rot="0">
            <a:off x="365125" y="2468562"/>
            <a:ext cx="109855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T1056.003</a:t>
            </a:r>
          </a:p>
        </p:txBody>
      </p:sp>
      <p:sp>
        <p:nvSpPr>
          <p:cNvPr id="1048873" name="Text 17"/>
          <p:cNvSpPr/>
          <p:nvPr/>
        </p:nvSpPr>
        <p:spPr>
          <a:xfrm rot="0">
            <a:off x="1554162" y="2468562"/>
            <a:ext cx="274320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Credential Access</a:t>
            </a:r>
          </a:p>
        </p:txBody>
      </p:sp>
      <p:sp>
        <p:nvSpPr>
          <p:cNvPr id="1048874" name="Text 18"/>
          <p:cNvSpPr/>
          <p:nvPr/>
        </p:nvSpPr>
        <p:spPr>
          <a:xfrm rot="0">
            <a:off x="365125" y="2806700"/>
            <a:ext cx="3932237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Web Portal Capture</a:t>
            </a:r>
          </a:p>
        </p:txBody>
      </p:sp>
      <p:sp>
        <p:nvSpPr>
          <p:cNvPr id="1048875" name="Text 19"/>
          <p:cNvSpPr/>
          <p:nvPr/>
        </p:nvSpPr>
        <p:spPr>
          <a:xfrm rot="0">
            <a:off x="365125" y="3108325"/>
            <a:ext cx="3932237" cy="3667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Landing page captured username &amp; password in cleartext</a:t>
            </a:r>
          </a:p>
        </p:txBody>
      </p:sp>
      <p:sp>
        <p:nvSpPr>
          <p:cNvPr id="1048876" name="Shape 20"/>
          <p:cNvSpPr/>
          <p:nvPr/>
        </p:nvSpPr>
        <p:spPr>
          <a:xfrm rot="0">
            <a:off x="4664075" y="2378075"/>
            <a:ext cx="4114800" cy="1169987"/>
          </a:xfrm>
          <a:prstGeom prst="roundRect">
            <a:avLst>
              <a:gd name="adj" fmla="val 7815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77" name="Shape 21"/>
          <p:cNvSpPr/>
          <p:nvPr/>
        </p:nvSpPr>
        <p:spPr>
          <a:xfrm rot="0">
            <a:off x="4754562" y="2468562"/>
            <a:ext cx="1096962" cy="274637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878" name="Text 22"/>
          <p:cNvSpPr/>
          <p:nvPr/>
        </p:nvSpPr>
        <p:spPr>
          <a:xfrm rot="0">
            <a:off x="4754562" y="2468562"/>
            <a:ext cx="1096962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T1078</a:t>
            </a:r>
          </a:p>
        </p:txBody>
      </p:sp>
      <p:sp>
        <p:nvSpPr>
          <p:cNvPr id="1048879" name="Text 23"/>
          <p:cNvSpPr/>
          <p:nvPr/>
        </p:nvSpPr>
        <p:spPr>
          <a:xfrm rot="0">
            <a:off x="5943600" y="2468562"/>
            <a:ext cx="274320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Defense Evasion</a:t>
            </a:r>
          </a:p>
        </p:txBody>
      </p:sp>
      <p:sp>
        <p:nvSpPr>
          <p:cNvPr id="1048880" name="Text 24"/>
          <p:cNvSpPr/>
          <p:nvPr/>
        </p:nvSpPr>
        <p:spPr>
          <a:xfrm rot="0">
            <a:off x="4754562" y="2806700"/>
            <a:ext cx="3932237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Valid Accounts (Setup)</a:t>
            </a:r>
          </a:p>
        </p:txBody>
      </p:sp>
      <p:sp>
        <p:nvSpPr>
          <p:cNvPr id="1048881" name="Text 25"/>
          <p:cNvSpPr/>
          <p:nvPr/>
        </p:nvSpPr>
        <p:spPr>
          <a:xfrm rot="0">
            <a:off x="4754562" y="3108325"/>
            <a:ext cx="3932237" cy="36671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Used legitimate Gmail SMTP to send; bypassed spam filters</a:t>
            </a:r>
          </a:p>
        </p:txBody>
      </p:sp>
      <p:sp>
        <p:nvSpPr>
          <p:cNvPr id="1048882" name="Shape 26"/>
          <p:cNvSpPr/>
          <p:nvPr/>
        </p:nvSpPr>
        <p:spPr>
          <a:xfrm rot="0">
            <a:off x="274637" y="3703637"/>
            <a:ext cx="4114800" cy="1169987"/>
          </a:xfrm>
          <a:prstGeom prst="roundRect">
            <a:avLst>
              <a:gd name="adj" fmla="val 7815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83" name="Shape 27"/>
          <p:cNvSpPr/>
          <p:nvPr/>
        </p:nvSpPr>
        <p:spPr>
          <a:xfrm rot="0">
            <a:off x="365125" y="3794125"/>
            <a:ext cx="1098550" cy="274637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884" name="Text 28"/>
          <p:cNvSpPr/>
          <p:nvPr/>
        </p:nvSpPr>
        <p:spPr>
          <a:xfrm rot="0">
            <a:off x="365125" y="3794125"/>
            <a:ext cx="109855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T1534</a:t>
            </a:r>
          </a:p>
        </p:txBody>
      </p:sp>
      <p:sp>
        <p:nvSpPr>
          <p:cNvPr id="1048885" name="Text 29"/>
          <p:cNvSpPr/>
          <p:nvPr/>
        </p:nvSpPr>
        <p:spPr>
          <a:xfrm rot="0">
            <a:off x="1554162" y="3794125"/>
            <a:ext cx="274320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Lateral Movement</a:t>
            </a:r>
          </a:p>
        </p:txBody>
      </p:sp>
      <p:sp>
        <p:nvSpPr>
          <p:cNvPr id="1048886" name="Text 30"/>
          <p:cNvSpPr/>
          <p:nvPr/>
        </p:nvSpPr>
        <p:spPr>
          <a:xfrm rot="0">
            <a:off x="365125" y="4133850"/>
            <a:ext cx="3932237" cy="2730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Internal Spearphishing</a:t>
            </a:r>
          </a:p>
        </p:txBody>
      </p:sp>
      <p:sp>
        <p:nvSpPr>
          <p:cNvPr id="1048887" name="Text 31"/>
          <p:cNvSpPr/>
          <p:nvPr/>
        </p:nvSpPr>
        <p:spPr>
          <a:xfrm rot="0">
            <a:off x="365125" y="4435475"/>
            <a:ext cx="3932237" cy="36512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If real, captured creds enable lateral movement</a:t>
            </a:r>
          </a:p>
        </p:txBody>
      </p:sp>
      <p:sp>
        <p:nvSpPr>
          <p:cNvPr id="1048888" name="Shape 32"/>
          <p:cNvSpPr/>
          <p:nvPr/>
        </p:nvSpPr>
        <p:spPr>
          <a:xfrm rot="0">
            <a:off x="4664075" y="3703637"/>
            <a:ext cx="4114800" cy="1169987"/>
          </a:xfrm>
          <a:prstGeom prst="roundRect">
            <a:avLst>
              <a:gd name="adj" fmla="val 7815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889" name="Shape 33"/>
          <p:cNvSpPr/>
          <p:nvPr/>
        </p:nvSpPr>
        <p:spPr>
          <a:xfrm rot="0">
            <a:off x="4754562" y="3794125"/>
            <a:ext cx="1096962" cy="274637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890" name="Text 34"/>
          <p:cNvSpPr/>
          <p:nvPr/>
        </p:nvSpPr>
        <p:spPr>
          <a:xfrm rot="0">
            <a:off x="4754562" y="3794125"/>
            <a:ext cx="1096962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T1204.001</a:t>
            </a:r>
          </a:p>
        </p:txBody>
      </p:sp>
      <p:sp>
        <p:nvSpPr>
          <p:cNvPr id="1048891" name="Text 35"/>
          <p:cNvSpPr/>
          <p:nvPr/>
        </p:nvSpPr>
        <p:spPr>
          <a:xfrm rot="0">
            <a:off x="5943600" y="3794125"/>
            <a:ext cx="274320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Execution</a:t>
            </a:r>
          </a:p>
        </p:txBody>
      </p:sp>
      <p:sp>
        <p:nvSpPr>
          <p:cNvPr id="1048892" name="Text 36"/>
          <p:cNvSpPr/>
          <p:nvPr/>
        </p:nvSpPr>
        <p:spPr>
          <a:xfrm rot="0">
            <a:off x="4754562" y="4133850"/>
            <a:ext cx="3932237" cy="2730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2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User Execution – Link</a:t>
            </a:r>
          </a:p>
        </p:txBody>
      </p:sp>
      <p:sp>
        <p:nvSpPr>
          <p:cNvPr id="1048893" name="Text 37"/>
          <p:cNvSpPr/>
          <p:nvPr/>
        </p:nvSpPr>
        <p:spPr>
          <a:xfrm rot="0">
            <a:off x="4754562" y="4435475"/>
            <a:ext cx="3932237" cy="36512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Victim executed the attack by clicking the phishing link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FFFFF"/>
        </a:solidFill>
      </p:bgPr>
    </p:bg>
    <p:spTree>
      <p:nvGrpSpPr>
        <p:cNvPr id="7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97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898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Recommendations &amp; Countermeasures</a:t>
            </a:r>
          </a:p>
        </p:txBody>
      </p:sp>
      <p:sp>
        <p:nvSpPr>
          <p:cNvPr id="1048899" name="Shape 2"/>
          <p:cNvSpPr/>
          <p:nvPr/>
        </p:nvSpPr>
        <p:spPr>
          <a:xfrm rot="0">
            <a:off x="274637" y="1050925"/>
            <a:ext cx="2743200" cy="1784350"/>
          </a:xfrm>
          <a:prstGeom prst="roundRect">
            <a:avLst>
              <a:gd name="adj" fmla="val 5130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00" name="Text 3"/>
          <p:cNvSpPr/>
          <p:nvPr/>
        </p:nvSpPr>
        <p:spPr>
          <a:xfrm rot="0">
            <a:off x="274637" y="1143000"/>
            <a:ext cx="2743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2400" lang="en-US">
                <a:solidFill>
                  <a:srgbClr val="000000"/>
                </a:solidFill>
                <a:latin typeface="Calibri" pitchFamily="34" charset="0"/>
              </a:rPr>
              <a:t>🎓</a:t>
            </a:r>
          </a:p>
        </p:txBody>
      </p:sp>
      <p:sp>
        <p:nvSpPr>
          <p:cNvPr id="1048901" name="Text 4"/>
          <p:cNvSpPr/>
          <p:nvPr/>
        </p:nvSpPr>
        <p:spPr>
          <a:xfrm rot="0">
            <a:off x="365125" y="1619250"/>
            <a:ext cx="2560637" cy="3460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Security Awareness Training</a:t>
            </a:r>
          </a:p>
        </p:txBody>
      </p:sp>
      <p:sp>
        <p:nvSpPr>
          <p:cNvPr id="1048902" name="Text 5"/>
          <p:cNvSpPr/>
          <p:nvPr/>
        </p:nvSpPr>
        <p:spPr>
          <a:xfrm rot="0">
            <a:off x="384175" y="2011362"/>
            <a:ext cx="2524125" cy="7508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Conduct regular phishing simulations and training sessions to educate employees on spotting suspicious emails.</a:t>
            </a:r>
          </a:p>
        </p:txBody>
      </p:sp>
      <p:sp>
        <p:nvSpPr>
          <p:cNvPr id="1048903" name="Shape 6"/>
          <p:cNvSpPr/>
          <p:nvPr/>
        </p:nvSpPr>
        <p:spPr>
          <a:xfrm rot="0">
            <a:off x="3154362" y="1050925"/>
            <a:ext cx="2743200" cy="1784350"/>
          </a:xfrm>
          <a:prstGeom prst="roundRect">
            <a:avLst>
              <a:gd name="adj" fmla="val 5130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04" name="Text 7"/>
          <p:cNvSpPr/>
          <p:nvPr/>
        </p:nvSpPr>
        <p:spPr>
          <a:xfrm rot="0">
            <a:off x="3154362" y="1143000"/>
            <a:ext cx="2743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2400" lang="en-US">
                <a:solidFill>
                  <a:srgbClr val="000000"/>
                </a:solidFill>
                <a:latin typeface="Calibri" pitchFamily="34" charset="0"/>
              </a:rPr>
              <a:t>🔐</a:t>
            </a:r>
          </a:p>
        </p:txBody>
      </p:sp>
      <p:sp>
        <p:nvSpPr>
          <p:cNvPr id="1048905" name="Text 8"/>
          <p:cNvSpPr/>
          <p:nvPr/>
        </p:nvSpPr>
        <p:spPr>
          <a:xfrm rot="0">
            <a:off x="3246437" y="1619250"/>
            <a:ext cx="2560637" cy="3460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Enable MFA</a:t>
            </a:r>
          </a:p>
        </p:txBody>
      </p:sp>
      <p:sp>
        <p:nvSpPr>
          <p:cNvPr id="1048906" name="Text 9"/>
          <p:cNvSpPr/>
          <p:nvPr/>
        </p:nvSpPr>
        <p:spPr>
          <a:xfrm rot="0">
            <a:off x="3263900" y="2011362"/>
            <a:ext cx="2524125" cy="7508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Multi-Factor Authentication prevents attackers from using stolen passwords. Even if phished, account stays safe.</a:t>
            </a:r>
          </a:p>
        </p:txBody>
      </p:sp>
      <p:sp>
        <p:nvSpPr>
          <p:cNvPr id="1048907" name="Shape 10"/>
          <p:cNvSpPr/>
          <p:nvPr/>
        </p:nvSpPr>
        <p:spPr>
          <a:xfrm rot="0">
            <a:off x="6035675" y="1050925"/>
            <a:ext cx="2743200" cy="1784350"/>
          </a:xfrm>
          <a:prstGeom prst="roundRect">
            <a:avLst>
              <a:gd name="adj" fmla="val 5130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08" name="Text 11"/>
          <p:cNvSpPr/>
          <p:nvPr/>
        </p:nvSpPr>
        <p:spPr>
          <a:xfrm rot="0">
            <a:off x="6035675" y="1143000"/>
            <a:ext cx="2743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2400" lang="en-US">
                <a:solidFill>
                  <a:srgbClr val="000000"/>
                </a:solidFill>
                <a:latin typeface="Calibri" pitchFamily="34" charset="0"/>
              </a:rPr>
              <a:t>📧</a:t>
            </a:r>
          </a:p>
        </p:txBody>
      </p:sp>
      <p:sp>
        <p:nvSpPr>
          <p:cNvPr id="1048909" name="Text 12"/>
          <p:cNvSpPr/>
          <p:nvPr/>
        </p:nvSpPr>
        <p:spPr>
          <a:xfrm rot="0">
            <a:off x="6126162" y="1619250"/>
            <a:ext cx="2560637" cy="3460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Email Filtering &amp; DMARC</a:t>
            </a:r>
          </a:p>
        </p:txBody>
      </p:sp>
      <p:sp>
        <p:nvSpPr>
          <p:cNvPr id="1048910" name="Text 13"/>
          <p:cNvSpPr/>
          <p:nvPr/>
        </p:nvSpPr>
        <p:spPr>
          <a:xfrm rot="0">
            <a:off x="6145212" y="2011362"/>
            <a:ext cx="2522537" cy="7508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Deploy DMARC, DKIM, and SPF to reject emails with spoofed sender domains. Use spam filters with link inspection.</a:t>
            </a:r>
          </a:p>
        </p:txBody>
      </p:sp>
      <p:sp>
        <p:nvSpPr>
          <p:cNvPr id="1048911" name="Shape 14"/>
          <p:cNvSpPr/>
          <p:nvPr/>
        </p:nvSpPr>
        <p:spPr>
          <a:xfrm rot="0">
            <a:off x="274637" y="2971800"/>
            <a:ext cx="2743200" cy="1782762"/>
          </a:xfrm>
          <a:prstGeom prst="roundRect">
            <a:avLst>
              <a:gd name="adj" fmla="val 5130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12" name="Text 15"/>
          <p:cNvSpPr/>
          <p:nvPr/>
        </p:nvSpPr>
        <p:spPr>
          <a:xfrm rot="0">
            <a:off x="274637" y="3063875"/>
            <a:ext cx="2743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2400" lang="en-US">
                <a:solidFill>
                  <a:srgbClr val="000000"/>
                </a:solidFill>
                <a:latin typeface="Calibri" pitchFamily="34" charset="0"/>
              </a:rPr>
              <a:t>🔍</a:t>
            </a:r>
          </a:p>
        </p:txBody>
      </p:sp>
      <p:sp>
        <p:nvSpPr>
          <p:cNvPr id="1048913" name="Text 16"/>
          <p:cNvSpPr/>
          <p:nvPr/>
        </p:nvSpPr>
        <p:spPr>
          <a:xfrm rot="0">
            <a:off x="365125" y="3538537"/>
            <a:ext cx="2560637" cy="3476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Suspicious Link Verification</a:t>
            </a:r>
          </a:p>
        </p:txBody>
      </p:sp>
      <p:sp>
        <p:nvSpPr>
          <p:cNvPr id="1048914" name="Text 17"/>
          <p:cNvSpPr/>
          <p:nvPr/>
        </p:nvSpPr>
        <p:spPr>
          <a:xfrm rot="0">
            <a:off x="384175" y="3932237"/>
            <a:ext cx="2524125" cy="7493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Train users to hover over links, check domain names carefully, and avoid clicking urgent email CTAs directly.</a:t>
            </a:r>
          </a:p>
        </p:txBody>
      </p:sp>
      <p:sp>
        <p:nvSpPr>
          <p:cNvPr id="1048915" name="Shape 18"/>
          <p:cNvSpPr/>
          <p:nvPr/>
        </p:nvSpPr>
        <p:spPr>
          <a:xfrm rot="0">
            <a:off x="3154362" y="2971800"/>
            <a:ext cx="2743200" cy="1782762"/>
          </a:xfrm>
          <a:prstGeom prst="roundRect">
            <a:avLst>
              <a:gd name="adj" fmla="val 5130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16" name="Text 19"/>
          <p:cNvSpPr/>
          <p:nvPr/>
        </p:nvSpPr>
        <p:spPr>
          <a:xfrm rot="0">
            <a:off x="3154362" y="3063875"/>
            <a:ext cx="2743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2400" lang="en-US">
                <a:solidFill>
                  <a:srgbClr val="000000"/>
                </a:solidFill>
                <a:latin typeface="Calibri" pitchFamily="34" charset="0"/>
              </a:rPr>
              <a:t>📋</a:t>
            </a:r>
          </a:p>
        </p:txBody>
      </p:sp>
      <p:sp>
        <p:nvSpPr>
          <p:cNvPr id="1048917" name="Text 20"/>
          <p:cNvSpPr/>
          <p:nvPr/>
        </p:nvSpPr>
        <p:spPr>
          <a:xfrm rot="0">
            <a:off x="3246437" y="3538537"/>
            <a:ext cx="2560637" cy="3476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Incident Reporting Culture</a:t>
            </a:r>
          </a:p>
        </p:txBody>
      </p:sp>
      <p:sp>
        <p:nvSpPr>
          <p:cNvPr id="1048918" name="Text 21"/>
          <p:cNvSpPr/>
          <p:nvPr/>
        </p:nvSpPr>
        <p:spPr>
          <a:xfrm rot="0">
            <a:off x="3263900" y="3932237"/>
            <a:ext cx="2524125" cy="7493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Establish easy reporting mechanisms (1-click report button). Reward employees who report phishing attempts.</a:t>
            </a:r>
          </a:p>
        </p:txBody>
      </p:sp>
      <p:sp>
        <p:nvSpPr>
          <p:cNvPr id="1048919" name="Shape 22"/>
          <p:cNvSpPr/>
          <p:nvPr/>
        </p:nvSpPr>
        <p:spPr>
          <a:xfrm rot="0">
            <a:off x="6035675" y="2971800"/>
            <a:ext cx="2743200" cy="1782762"/>
          </a:xfrm>
          <a:prstGeom prst="roundRect">
            <a:avLst>
              <a:gd name="adj" fmla="val 5130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20" name="Text 23"/>
          <p:cNvSpPr/>
          <p:nvPr/>
        </p:nvSpPr>
        <p:spPr>
          <a:xfrm rot="0">
            <a:off x="6035675" y="3063875"/>
            <a:ext cx="2743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2400" lang="en-US">
                <a:solidFill>
                  <a:srgbClr val="000000"/>
                </a:solidFill>
                <a:latin typeface="Calibri" pitchFamily="34" charset="0"/>
              </a:rPr>
              <a:t>🧪</a:t>
            </a:r>
          </a:p>
        </p:txBody>
      </p:sp>
      <p:sp>
        <p:nvSpPr>
          <p:cNvPr id="1048921" name="Text 24"/>
          <p:cNvSpPr/>
          <p:nvPr/>
        </p:nvSpPr>
        <p:spPr>
          <a:xfrm rot="0">
            <a:off x="6126162" y="3538537"/>
            <a:ext cx="2560637" cy="347662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Regular Phishing Tests</a:t>
            </a:r>
          </a:p>
        </p:txBody>
      </p:sp>
      <p:sp>
        <p:nvSpPr>
          <p:cNvPr id="1048922" name="Text 25"/>
          <p:cNvSpPr/>
          <p:nvPr/>
        </p:nvSpPr>
        <p:spPr>
          <a:xfrm rot="0">
            <a:off x="6145212" y="3932237"/>
            <a:ext cx="2522537" cy="7493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Run quarterly simulations using tools like GoPhish to measure employee susceptibility and track improvement.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0F4F8"/>
        </a:solidFill>
      </p:bgPr>
    </p:bg>
    <p:spTree>
      <p:nvGrpSpPr>
        <p:cNvPr id="7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26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D1B2A"/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</a:ln>
        </p:spPr>
      </p:sp>
      <p:sp>
        <p:nvSpPr>
          <p:cNvPr id="1048927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Lessons Learned &amp; Challenges Faced</a:t>
            </a:r>
          </a:p>
        </p:txBody>
      </p:sp>
      <p:sp>
        <p:nvSpPr>
          <p:cNvPr id="1048928" name="Shape 2"/>
          <p:cNvSpPr/>
          <p:nvPr/>
        </p:nvSpPr>
        <p:spPr>
          <a:xfrm rot="0">
            <a:off x="274637" y="1050925"/>
            <a:ext cx="4160837" cy="1189037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29" name="Text 3"/>
          <p:cNvSpPr/>
          <p:nvPr/>
        </p:nvSpPr>
        <p:spPr>
          <a:xfrm rot="0">
            <a:off x="384175" y="1162050"/>
            <a:ext cx="503237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2000" lang="en-US">
                <a:solidFill>
                  <a:srgbClr val="000000"/>
                </a:solidFill>
                <a:latin typeface="Calibri" pitchFamily="34" charset="0"/>
              </a:rPr>
              <a:t>🌐</a:t>
            </a:r>
          </a:p>
        </p:txBody>
      </p:sp>
      <p:sp>
        <p:nvSpPr>
          <p:cNvPr id="1048930" name="Text 4"/>
          <p:cNvSpPr/>
          <p:nvPr/>
        </p:nvSpPr>
        <p:spPr>
          <a:xfrm rot="0">
            <a:off x="895350" y="1143000"/>
            <a:ext cx="3429000" cy="2921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Network/Traffic Visibility</a:t>
            </a:r>
          </a:p>
        </p:txBody>
      </p:sp>
      <p:sp>
        <p:nvSpPr>
          <p:cNvPr id="1048931" name="Text 5"/>
          <p:cNvSpPr/>
          <p:nvPr/>
        </p:nvSpPr>
        <p:spPr>
          <a:xfrm rot="0">
            <a:off x="438150" y="1508125"/>
            <a:ext cx="3841750" cy="6858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Learned the importance of routing all relevant traffic (browser + VM) through the same monitoring path — a gap that, in a parallel pentest exercise, caused a web app to go undetected when only Kali VM traffic was inspected and browser traffic bypassed it.</a:t>
            </a:r>
          </a:p>
        </p:txBody>
      </p:sp>
      <p:sp>
        <p:nvSpPr>
          <p:cNvPr id="1048932" name="Shape 6"/>
          <p:cNvSpPr/>
          <p:nvPr/>
        </p:nvSpPr>
        <p:spPr>
          <a:xfrm rot="0">
            <a:off x="4664075" y="1050925"/>
            <a:ext cx="4159250" cy="1189037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33" name="Text 7"/>
          <p:cNvSpPr/>
          <p:nvPr/>
        </p:nvSpPr>
        <p:spPr>
          <a:xfrm rot="0">
            <a:off x="4773612" y="1162050"/>
            <a:ext cx="503237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2000" lang="en-US">
                <a:solidFill>
                  <a:srgbClr val="000000"/>
                </a:solidFill>
                <a:latin typeface="Calibri" pitchFamily="34" charset="0"/>
              </a:rPr>
              <a:t>📧</a:t>
            </a:r>
          </a:p>
        </p:txBody>
      </p:sp>
      <p:sp>
        <p:nvSpPr>
          <p:cNvPr id="1048934" name="Text 8"/>
          <p:cNvSpPr/>
          <p:nvPr/>
        </p:nvSpPr>
        <p:spPr>
          <a:xfrm rot="0">
            <a:off x="5284787" y="1143000"/>
            <a:ext cx="3429000" cy="2921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Email Deliverability</a:t>
            </a:r>
          </a:p>
        </p:txBody>
      </p:sp>
      <p:sp>
        <p:nvSpPr>
          <p:cNvPr id="1048935" name="Text 9"/>
          <p:cNvSpPr/>
          <p:nvPr/>
        </p:nvSpPr>
        <p:spPr>
          <a:xfrm rot="0">
            <a:off x="4827587" y="1508125"/>
            <a:ext cx="3840162" cy="6858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Gmail SMTP intermittently triggered spam filters and security warnings — required adjusting headers and testing with 'Send Test Email' before launching the real campaign.</a:t>
            </a:r>
          </a:p>
        </p:txBody>
      </p:sp>
      <p:sp>
        <p:nvSpPr>
          <p:cNvPr id="1048936" name="Shape 10"/>
          <p:cNvSpPr/>
          <p:nvPr/>
        </p:nvSpPr>
        <p:spPr>
          <a:xfrm rot="0">
            <a:off x="274637" y="2378075"/>
            <a:ext cx="4160837" cy="1187450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37" name="Text 11"/>
          <p:cNvSpPr/>
          <p:nvPr/>
        </p:nvSpPr>
        <p:spPr>
          <a:xfrm rot="0">
            <a:off x="384175" y="2487612"/>
            <a:ext cx="503237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2000" lang="en-US">
                <a:solidFill>
                  <a:srgbClr val="000000"/>
                </a:solidFill>
                <a:latin typeface="Calibri" pitchFamily="34" charset="0"/>
              </a:rPr>
              <a:t>🪤</a:t>
            </a:r>
          </a:p>
        </p:txBody>
      </p:sp>
      <p:sp>
        <p:nvSpPr>
          <p:cNvPr id="1048938" name="Text 12"/>
          <p:cNvSpPr/>
          <p:nvPr/>
        </p:nvSpPr>
        <p:spPr>
          <a:xfrm rot="0">
            <a:off x="895350" y="2468562"/>
            <a:ext cx="3429000" cy="2936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Believable Pretexting</a:t>
            </a:r>
          </a:p>
        </p:txBody>
      </p:sp>
      <p:sp>
        <p:nvSpPr>
          <p:cNvPr id="1048939" name="Text 13"/>
          <p:cNvSpPr/>
          <p:nvPr/>
        </p:nvSpPr>
        <p:spPr>
          <a:xfrm rot="0">
            <a:off x="438150" y="2835275"/>
            <a:ext cx="3841750" cy="6858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Early email drafts felt too generic. Iterated through 4 campaign versions to land on urgency + impersonation language that actually drove a click within 25 seconds.</a:t>
            </a:r>
          </a:p>
        </p:txBody>
      </p:sp>
      <p:sp>
        <p:nvSpPr>
          <p:cNvPr id="1048940" name="Shape 14"/>
          <p:cNvSpPr/>
          <p:nvPr/>
        </p:nvSpPr>
        <p:spPr>
          <a:xfrm rot="0">
            <a:off x="4664075" y="2378075"/>
            <a:ext cx="4159250" cy="1187450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41" name="Text 15"/>
          <p:cNvSpPr/>
          <p:nvPr/>
        </p:nvSpPr>
        <p:spPr>
          <a:xfrm rot="0">
            <a:off x="4773612" y="2487612"/>
            <a:ext cx="503237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2000" lang="en-US">
                <a:solidFill>
                  <a:srgbClr val="000000"/>
                </a:solidFill>
                <a:latin typeface="Calibri" pitchFamily="34" charset="0"/>
              </a:rPr>
              <a:t>🔓</a:t>
            </a:r>
          </a:p>
        </p:txBody>
      </p:sp>
      <p:sp>
        <p:nvSpPr>
          <p:cNvPr id="1048942" name="Text 16"/>
          <p:cNvSpPr/>
          <p:nvPr/>
        </p:nvSpPr>
        <p:spPr>
          <a:xfrm rot="0">
            <a:off x="5284787" y="2468562"/>
            <a:ext cx="3429000" cy="2936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Cleartext Credential Storage</a:t>
            </a:r>
          </a:p>
        </p:txBody>
      </p:sp>
      <p:sp>
        <p:nvSpPr>
          <p:cNvPr id="1048943" name="Text 17"/>
          <p:cNvSpPr/>
          <p:nvPr/>
        </p:nvSpPr>
        <p:spPr>
          <a:xfrm rot="0">
            <a:off x="4827587" y="2835275"/>
            <a:ext cx="3840162" cy="6858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GoPhish stores captured credentials in cleartext by default — reinforced why production systems must never log credentials unencrypted, even temporarily.</a:t>
            </a:r>
          </a:p>
        </p:txBody>
      </p:sp>
      <p:sp>
        <p:nvSpPr>
          <p:cNvPr id="1048944" name="Shape 18"/>
          <p:cNvSpPr/>
          <p:nvPr/>
        </p:nvSpPr>
        <p:spPr>
          <a:xfrm rot="0">
            <a:off x="274637" y="3703637"/>
            <a:ext cx="4160837" cy="1189037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45" name="Text 19"/>
          <p:cNvSpPr/>
          <p:nvPr/>
        </p:nvSpPr>
        <p:spPr>
          <a:xfrm rot="0">
            <a:off x="384175" y="3813175"/>
            <a:ext cx="503237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2000" lang="en-US">
                <a:solidFill>
                  <a:srgbClr val="000000"/>
                </a:solidFill>
                <a:latin typeface="Calibri" pitchFamily="34" charset="0"/>
              </a:rPr>
              <a:t>🧭</a:t>
            </a:r>
          </a:p>
        </p:txBody>
      </p:sp>
      <p:sp>
        <p:nvSpPr>
          <p:cNvPr id="1048946" name="Text 20"/>
          <p:cNvSpPr/>
          <p:nvPr/>
        </p:nvSpPr>
        <p:spPr>
          <a:xfrm rot="0">
            <a:off x="895350" y="3794125"/>
            <a:ext cx="3429000" cy="2936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Redirect Strategy</a:t>
            </a:r>
          </a:p>
        </p:txBody>
      </p:sp>
      <p:sp>
        <p:nvSpPr>
          <p:cNvPr id="1048947" name="Text 21"/>
          <p:cNvSpPr/>
          <p:nvPr/>
        </p:nvSpPr>
        <p:spPr>
          <a:xfrm rot="0">
            <a:off x="438150" y="4160837"/>
            <a:ext cx="3841750" cy="6858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Configuring a redirect to the real instagram.com after submission was key to realism — victims had no visual cue anything was wrong.</a:t>
            </a:r>
          </a:p>
        </p:txBody>
      </p:sp>
      <p:sp>
        <p:nvSpPr>
          <p:cNvPr id="1048948" name="Shape 22"/>
          <p:cNvSpPr/>
          <p:nvPr/>
        </p:nvSpPr>
        <p:spPr>
          <a:xfrm rot="0">
            <a:off x="4664075" y="3703637"/>
            <a:ext cx="4159250" cy="1189037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49" name="Text 23"/>
          <p:cNvSpPr/>
          <p:nvPr/>
        </p:nvSpPr>
        <p:spPr>
          <a:xfrm rot="0">
            <a:off x="4773612" y="3813175"/>
            <a:ext cx="503237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2000" lang="en-US">
                <a:solidFill>
                  <a:srgbClr val="000000"/>
                </a:solidFill>
                <a:latin typeface="Calibri" pitchFamily="34" charset="0"/>
              </a:rPr>
              <a:t>⏱️</a:t>
            </a:r>
          </a:p>
        </p:txBody>
      </p:sp>
      <p:sp>
        <p:nvSpPr>
          <p:cNvPr id="1048950" name="Text 24"/>
          <p:cNvSpPr/>
          <p:nvPr/>
        </p:nvSpPr>
        <p:spPr>
          <a:xfrm rot="0">
            <a:off x="5284787" y="3794125"/>
            <a:ext cx="3429000" cy="29368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100" lang="en-US">
                <a:solidFill>
                  <a:srgbClr val="0077B6"/>
                </a:solidFill>
                <a:latin typeface="Calibri" pitchFamily="34" charset="0"/>
                <a:ea typeface="Calibri" pitchFamily="34" charset="-122"/>
              </a:rPr>
              <a:t>Speed of Compromise</a:t>
            </a:r>
          </a:p>
        </p:txBody>
      </p:sp>
      <p:sp>
        <p:nvSpPr>
          <p:cNvPr id="1048951" name="Text 25"/>
          <p:cNvSpPr/>
          <p:nvPr/>
        </p:nvSpPr>
        <p:spPr>
          <a:xfrm rot="0">
            <a:off x="4827587" y="4160837"/>
            <a:ext cx="3840162" cy="6858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9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The full attack chain (click → credential theft) completed in under 60 seconds — a strong real-world argument for why detection speed matters as much as prevention.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FFFFFF"/>
        </a:solidFill>
      </p:bgPr>
    </p:bg>
    <p:spTree>
      <p:nvGrpSpPr>
        <p:cNvPr id="7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55" name="Shape 0"/>
          <p:cNvSpPr/>
          <p:nvPr/>
        </p:nvSpPr>
        <p:spPr>
          <a:xfrm rot="0">
            <a:off x="0" y="0"/>
            <a:ext cx="9144000" cy="914400"/>
          </a:xfrm>
          <a:prstGeom prst="rect"/>
          <a:solidFill>
            <a:srgbClr val="0077B6"/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  <p:sp>
        <p:nvSpPr>
          <p:cNvPr id="1048956" name="Text 1"/>
          <p:cNvSpPr/>
          <p:nvPr/>
        </p:nvSpPr>
        <p:spPr>
          <a:xfrm rot="0">
            <a:off x="365125" y="73025"/>
            <a:ext cx="8413750" cy="76835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Skills Demonstrated</a:t>
            </a:r>
          </a:p>
        </p:txBody>
      </p:sp>
      <p:sp>
        <p:nvSpPr>
          <p:cNvPr id="1048957" name="Shape 2"/>
          <p:cNvSpPr/>
          <p:nvPr/>
        </p:nvSpPr>
        <p:spPr>
          <a:xfrm rot="0">
            <a:off x="274637" y="1096962"/>
            <a:ext cx="2743200" cy="3749675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58" name="Shape 3"/>
          <p:cNvSpPr/>
          <p:nvPr/>
        </p:nvSpPr>
        <p:spPr>
          <a:xfrm rot="0">
            <a:off x="274637" y="1096962"/>
            <a:ext cx="2743200" cy="503237"/>
          </a:xfrm>
          <a:prstGeom prst="rect"/>
          <a:solidFill>
            <a:srgbClr val="0D1B2A"/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</a:ln>
        </p:spPr>
      </p:sp>
      <p:sp>
        <p:nvSpPr>
          <p:cNvPr id="1048959" name="Text 4"/>
          <p:cNvSpPr/>
          <p:nvPr/>
        </p:nvSpPr>
        <p:spPr>
          <a:xfrm rot="0">
            <a:off x="274637" y="1096962"/>
            <a:ext cx="2743200" cy="5032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Offensive Security</a:t>
            </a:r>
          </a:p>
        </p:txBody>
      </p:sp>
      <p:sp>
        <p:nvSpPr>
          <p:cNvPr id="1048960" name="Text 5"/>
          <p:cNvSpPr/>
          <p:nvPr/>
        </p:nvSpPr>
        <p:spPr>
          <a:xfrm rot="0">
            <a:off x="503237" y="1782762"/>
            <a:ext cx="2332037" cy="2925762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GoPhish campaign configuration</a:t>
            </a:r>
          </a:p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Social engineering / pretexting</a:t>
            </a:r>
          </a:p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Credential-harvesting page design</a:t>
            </a:r>
          </a:p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SMTP spoofing &amp; sender impersonation</a:t>
            </a:r>
          </a:p>
        </p:txBody>
      </p:sp>
      <p:sp>
        <p:nvSpPr>
          <p:cNvPr id="1048961" name="Shape 6"/>
          <p:cNvSpPr/>
          <p:nvPr/>
        </p:nvSpPr>
        <p:spPr>
          <a:xfrm rot="0">
            <a:off x="3200400" y="1096962"/>
            <a:ext cx="2743200" cy="3749675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62" name="Shape 7"/>
          <p:cNvSpPr/>
          <p:nvPr/>
        </p:nvSpPr>
        <p:spPr>
          <a:xfrm rot="0">
            <a:off x="3200400" y="1096962"/>
            <a:ext cx="2743200" cy="503237"/>
          </a:xfrm>
          <a:prstGeom prst="rect"/>
          <a:solidFill>
            <a:srgbClr val="0D1B2A"/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</a:ln>
        </p:spPr>
      </p:sp>
      <p:sp>
        <p:nvSpPr>
          <p:cNvPr id="1048963" name="Text 8"/>
          <p:cNvSpPr/>
          <p:nvPr/>
        </p:nvSpPr>
        <p:spPr>
          <a:xfrm rot="0">
            <a:off x="3200400" y="1096962"/>
            <a:ext cx="2743200" cy="5032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Tools &amp; Platforms</a:t>
            </a:r>
          </a:p>
        </p:txBody>
      </p:sp>
      <p:sp>
        <p:nvSpPr>
          <p:cNvPr id="1048964" name="Text 9"/>
          <p:cNvSpPr/>
          <p:nvPr/>
        </p:nvSpPr>
        <p:spPr>
          <a:xfrm rot="0">
            <a:off x="3429000" y="1782762"/>
            <a:ext cx="2332037" cy="2925762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Kali Linux</a:t>
            </a:r>
          </a:p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Oracle VirtualBox</a:t>
            </a:r>
          </a:p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Gmail SMTP (App Passwords)</a:t>
            </a:r>
          </a:p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HTML/CSS landing page editing</a:t>
            </a:r>
          </a:p>
        </p:txBody>
      </p:sp>
      <p:sp>
        <p:nvSpPr>
          <p:cNvPr id="1048965" name="Shape 10"/>
          <p:cNvSpPr/>
          <p:nvPr/>
        </p:nvSpPr>
        <p:spPr>
          <a:xfrm rot="0">
            <a:off x="6126162" y="1096962"/>
            <a:ext cx="2743200" cy="3749675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 cap="flat" cmpd="sng">
            <a:solidFill>
              <a:srgbClr val="E8EDF2">
                <a:alpha val="100000"/>
              </a:srgbClr>
            </a:solidFill>
            <a:prstDash val="solid"/>
            <a:round/>
          </a:ln>
          <a:effectLst>
            <a:outerShdw algn="bl" dir="2700000" dist="38100" kx="0" sx="100000" sy="100000">
              <a:srgbClr val="000000">
                <a:alpha val="17999"/>
              </a:srgbClr>
            </a:outerShdw>
          </a:effectLst>
        </p:spPr>
      </p:sp>
      <p:sp>
        <p:nvSpPr>
          <p:cNvPr id="1048966" name="Shape 11"/>
          <p:cNvSpPr/>
          <p:nvPr/>
        </p:nvSpPr>
        <p:spPr>
          <a:xfrm rot="0">
            <a:off x="6126162" y="1096962"/>
            <a:ext cx="2743200" cy="503237"/>
          </a:xfrm>
          <a:prstGeom prst="rect"/>
          <a:solidFill>
            <a:srgbClr val="0D1B2A"/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</a:ln>
        </p:spPr>
      </p:sp>
      <p:sp>
        <p:nvSpPr>
          <p:cNvPr id="1048967" name="Text 12"/>
          <p:cNvSpPr/>
          <p:nvPr/>
        </p:nvSpPr>
        <p:spPr>
          <a:xfrm rot="0">
            <a:off x="6126162" y="1096962"/>
            <a:ext cx="2743200" cy="5032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Analysis &amp; Reporting</a:t>
            </a:r>
          </a:p>
        </p:txBody>
      </p:sp>
      <p:sp>
        <p:nvSpPr>
          <p:cNvPr id="1048968" name="Text 13"/>
          <p:cNvSpPr/>
          <p:nvPr/>
        </p:nvSpPr>
        <p:spPr>
          <a:xfrm rot="0">
            <a:off x="6354762" y="1782762"/>
            <a:ext cx="2332037" cy="2925762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MITRE ATT&amp;CK technique mapping</a:t>
            </a:r>
          </a:p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Engagement funnel / metrics analysis</a:t>
            </a:r>
          </a:p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Timeline reconstruction</a:t>
            </a:r>
          </a:p>
          <a:p>
            <a:pPr indent="-342900" lvl="0" marL="342900">
              <a:spcAft>
                <a:spcPts val="1000"/>
              </a:spcAft>
              <a:buFontTx/>
              <a:buChar char="•"/>
            </a:pPr>
            <a:r>
              <a:rPr altLang="zh-CN" sz="11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</a:rPr>
              <a:t>Professional report &amp; deck writing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rgbClr val="0D1B2A"/>
        </a:solidFill>
      </p:bgPr>
    </p:bg>
    <p:spTree>
      <p:nvGrpSpPr>
        <p:cNvPr id="8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72" name="Text 1"/>
          <p:cNvSpPr/>
          <p:nvPr/>
        </p:nvSpPr>
        <p:spPr>
          <a:xfrm rot="0">
            <a:off x="457200" y="365125"/>
            <a:ext cx="7315200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14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</a:rPr>
              <a:t>Conclusion</a:t>
            </a:r>
          </a:p>
        </p:txBody>
      </p:sp>
      <p:sp>
        <p:nvSpPr>
          <p:cNvPr id="1048973" name="Text 2"/>
          <p:cNvSpPr/>
          <p:nvPr/>
        </p:nvSpPr>
        <p:spPr>
          <a:xfrm rot="0">
            <a:off x="457200" y="777875"/>
            <a:ext cx="7772400" cy="82232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b="1" sz="2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Phishing Remains Organizations' #1 Threat</a:t>
            </a:r>
          </a:p>
        </p:txBody>
      </p:sp>
      <p:sp>
        <p:nvSpPr>
          <p:cNvPr id="1048974" name="Shape 3"/>
          <p:cNvSpPr/>
          <p:nvPr/>
        </p:nvSpPr>
        <p:spPr>
          <a:xfrm rot="0">
            <a:off x="457200" y="1554162"/>
            <a:ext cx="2286000" cy="46037"/>
          </a:xfrm>
          <a:prstGeom prst="rect"/>
          <a:solidFill>
            <a:srgbClr val="00B4D8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975" name="Shape 4"/>
          <p:cNvSpPr/>
          <p:nvPr/>
        </p:nvSpPr>
        <p:spPr>
          <a:xfrm rot="0">
            <a:off x="457200" y="1736725"/>
            <a:ext cx="1692275" cy="869950"/>
          </a:xfrm>
          <a:prstGeom prst="roundRect">
            <a:avLst>
              <a:gd name="adj" fmla="val 10528"/>
            </a:avLst>
          </a:prstGeom>
          <a:solidFill>
            <a:srgbClr val="13263D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976" name="Text 5"/>
          <p:cNvSpPr/>
          <p:nvPr/>
        </p:nvSpPr>
        <p:spPr>
          <a:xfrm rot="0">
            <a:off x="457200" y="1782762"/>
            <a:ext cx="1692275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22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</a:rPr>
              <a:t>50%</a:t>
            </a:r>
          </a:p>
        </p:txBody>
      </p:sp>
      <p:sp>
        <p:nvSpPr>
          <p:cNvPr id="1048977" name="Text 6"/>
          <p:cNvSpPr/>
          <p:nvPr/>
        </p:nvSpPr>
        <p:spPr>
          <a:xfrm rot="0">
            <a:off x="457200" y="2239962"/>
            <a:ext cx="1692275" cy="3206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Click Rate</a:t>
            </a:r>
          </a:p>
        </p:txBody>
      </p:sp>
      <p:sp>
        <p:nvSpPr>
          <p:cNvPr id="1048978" name="Shape 7"/>
          <p:cNvSpPr/>
          <p:nvPr/>
        </p:nvSpPr>
        <p:spPr>
          <a:xfrm rot="0">
            <a:off x="2332037" y="1736725"/>
            <a:ext cx="1690687" cy="869950"/>
          </a:xfrm>
          <a:prstGeom prst="roundRect">
            <a:avLst>
              <a:gd name="adj" fmla="val 10528"/>
            </a:avLst>
          </a:prstGeom>
          <a:solidFill>
            <a:srgbClr val="13263D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979" name="Text 8"/>
          <p:cNvSpPr/>
          <p:nvPr/>
        </p:nvSpPr>
        <p:spPr>
          <a:xfrm rot="0">
            <a:off x="2332037" y="1782762"/>
            <a:ext cx="1690687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22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</a:rPr>
              <a:t>50%</a:t>
            </a:r>
          </a:p>
        </p:txBody>
      </p:sp>
      <p:sp>
        <p:nvSpPr>
          <p:cNvPr id="1048980" name="Text 9"/>
          <p:cNvSpPr/>
          <p:nvPr/>
        </p:nvSpPr>
        <p:spPr>
          <a:xfrm rot="0">
            <a:off x="2332037" y="2239962"/>
            <a:ext cx="1690687" cy="3206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Credential Loss</a:t>
            </a:r>
          </a:p>
        </p:txBody>
      </p:sp>
      <p:sp>
        <p:nvSpPr>
          <p:cNvPr id="1048981" name="Shape 10"/>
          <p:cNvSpPr/>
          <p:nvPr/>
        </p:nvSpPr>
        <p:spPr>
          <a:xfrm rot="0">
            <a:off x="4206875" y="1736725"/>
            <a:ext cx="1690687" cy="869950"/>
          </a:xfrm>
          <a:prstGeom prst="roundRect">
            <a:avLst>
              <a:gd name="adj" fmla="val 10528"/>
            </a:avLst>
          </a:prstGeom>
          <a:solidFill>
            <a:srgbClr val="13263D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982" name="Text 11"/>
          <p:cNvSpPr/>
          <p:nvPr/>
        </p:nvSpPr>
        <p:spPr>
          <a:xfrm rot="0">
            <a:off x="4206875" y="1782762"/>
            <a:ext cx="1690687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22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</a:rPr>
              <a:t>0%</a:t>
            </a:r>
          </a:p>
        </p:txBody>
      </p:sp>
      <p:sp>
        <p:nvSpPr>
          <p:cNvPr id="1048983" name="Text 12"/>
          <p:cNvSpPr/>
          <p:nvPr/>
        </p:nvSpPr>
        <p:spPr>
          <a:xfrm rot="0">
            <a:off x="4206875" y="2239962"/>
            <a:ext cx="1690687" cy="3206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Reported</a:t>
            </a:r>
          </a:p>
        </p:txBody>
      </p:sp>
      <p:sp>
        <p:nvSpPr>
          <p:cNvPr id="1048984" name="Shape 13"/>
          <p:cNvSpPr/>
          <p:nvPr/>
        </p:nvSpPr>
        <p:spPr>
          <a:xfrm rot="0">
            <a:off x="6080125" y="1736725"/>
            <a:ext cx="1692275" cy="869950"/>
          </a:xfrm>
          <a:prstGeom prst="roundRect">
            <a:avLst>
              <a:gd name="adj" fmla="val 10528"/>
            </a:avLst>
          </a:prstGeom>
          <a:solidFill>
            <a:srgbClr val="13263D"/>
          </a:solidFill>
          <a:ln w="12700" cap="flat" cmpd="sng">
            <a:solidFill>
              <a:srgbClr val="00B4D8">
                <a:alpha val="100000"/>
              </a:srgbClr>
            </a:solidFill>
            <a:prstDash val="solid"/>
            <a:round/>
          </a:ln>
        </p:spPr>
      </p:sp>
      <p:sp>
        <p:nvSpPr>
          <p:cNvPr id="1048985" name="Text 14"/>
          <p:cNvSpPr/>
          <p:nvPr/>
        </p:nvSpPr>
        <p:spPr>
          <a:xfrm rot="0">
            <a:off x="6080125" y="1782762"/>
            <a:ext cx="1692275" cy="457200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b="1" sz="22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</a:rPr>
              <a:t>&lt;60s</a:t>
            </a:r>
          </a:p>
        </p:txBody>
      </p:sp>
      <p:sp>
        <p:nvSpPr>
          <p:cNvPr id="1048986" name="Text 15"/>
          <p:cNvSpPr/>
          <p:nvPr/>
        </p:nvSpPr>
        <p:spPr>
          <a:xfrm rot="0">
            <a:off x="6080125" y="2239962"/>
            <a:ext cx="1692275" cy="320675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algn="ctr" indent="-342900" lvl="0">
              <a:buFontTx/>
              <a:buNone/>
            </a:pPr>
            <a:r>
              <a:rPr altLang="zh-CN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Time to Compromise</a:t>
            </a:r>
          </a:p>
        </p:txBody>
      </p:sp>
      <p:sp>
        <p:nvSpPr>
          <p:cNvPr id="1048987" name="Text 16"/>
          <p:cNvSpPr/>
          <p:nvPr/>
        </p:nvSpPr>
        <p:spPr>
          <a:xfrm rot="0">
            <a:off x="457200" y="2789237"/>
            <a:ext cx="8137525" cy="1828800"/>
          </a:xfrm>
          <a:prstGeom prst="rect"/>
          <a:noFill/>
          <a:ln>
            <a:noFill/>
          </a:ln>
        </p:spPr>
        <p:txBody>
          <a:bodyPr anchor="t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 marL="342900">
              <a:spcAft>
                <a:spcPts val="500"/>
              </a:spcAft>
              <a:buFontTx/>
              <a:buChar char="•"/>
            </a:pPr>
            <a:r>
              <a:rPr altLang="zh-CN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GoPhish simulation successfully demonstrated a full, end-to-end credential phishing attack chain in a controlled, authorized lab environment</a:t>
            </a:r>
          </a:p>
          <a:p>
            <a:pPr indent="-342900" lvl="0" marL="342900">
              <a:spcAft>
                <a:spcPts val="500"/>
              </a:spcAft>
              <a:buFontTx/>
              <a:buChar char="•"/>
            </a:pPr>
            <a:r>
              <a:rPr altLang="zh-CN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50% of simulated users clicked the link and submitted credentials — closely reflecting real-world industry phishing-test averages</a:t>
            </a:r>
          </a:p>
          <a:p>
            <a:pPr indent="-342900" lvl="0" marL="342900">
              <a:spcAft>
                <a:spcPts val="500"/>
              </a:spcAft>
              <a:buFontTx/>
              <a:buChar char="•"/>
            </a:pPr>
            <a:r>
              <a:rPr altLang="zh-CN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0 users reported the phishing email, exposing a critical gap in detection and reporting culture</a:t>
            </a:r>
          </a:p>
          <a:p>
            <a:pPr indent="-342900" lvl="0" marL="342900">
              <a:spcAft>
                <a:spcPts val="500"/>
              </a:spcAft>
              <a:buFontTx/>
              <a:buChar char="•"/>
            </a:pPr>
            <a:r>
              <a:rPr altLang="zh-CN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The attack succeeded purely through social engineering — impersonation, urgency, and a convincing clone page — with no technical exploit required</a:t>
            </a:r>
          </a:p>
          <a:p>
            <a:pPr indent="-342900" lvl="0" marL="342900">
              <a:spcAft>
                <a:spcPts val="500"/>
              </a:spcAft>
              <a:buFontTx/>
              <a:buChar char="•"/>
            </a:pPr>
            <a:r>
              <a:rPr altLang="zh-CN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Human behavior remains the weakest link; technology controls (SPF/DKIM/DMARC, MFA, filtering) must be paired with continuous awareness training</a:t>
            </a:r>
          </a:p>
          <a:p>
            <a:pPr indent="-342900" lvl="0" marL="342900">
              <a:spcAft>
                <a:spcPts val="500"/>
              </a:spcAft>
              <a:buFontTx/>
              <a:buChar char="•"/>
            </a:pPr>
            <a:r>
              <a:rPr altLang="zh-CN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This project strengthened hands-on skills in offensive tooling (GoPhish), attack-chain analysis (MITRE ATT&amp;CK), and professional security reporting</a:t>
            </a:r>
          </a:p>
        </p:txBody>
      </p:sp>
      <p:sp>
        <p:nvSpPr>
          <p:cNvPr id="1048988" name="Text 17"/>
          <p:cNvSpPr/>
          <p:nvPr/>
        </p:nvSpPr>
        <p:spPr>
          <a:xfrm rot="0">
            <a:off x="457200" y="4800600"/>
            <a:ext cx="8229600" cy="274637"/>
          </a:xfrm>
          <a:prstGeom prst="rect"/>
          <a:noFill/>
          <a:ln>
            <a:noFill/>
          </a:ln>
        </p:spPr>
        <p:txBody>
          <a:bodyPr anchor="ctr" bIns="0" lIns="0" rIns="0" tIns="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Calibri" pitchFamily="34" charset="0"/>
                <a:ea typeface="等线" pitchFamily="0" charset="0"/>
              </a:defRPr>
            </a:lvl5pPr>
          </a:lstStyle>
          <a:p>
            <a:pPr indent="-342900" lvl="0">
              <a:buFontTx/>
              <a:buNone/>
            </a:pPr>
            <a:r>
              <a:rPr altLang="zh-CN" sz="1000" lang="en-US">
                <a:solidFill>
                  <a:srgbClr val="8492A6"/>
                </a:solidFill>
                <a:latin typeface="Calibri" pitchFamily="34" charset="0"/>
                <a:ea typeface="Calibri" pitchFamily="34" charset="-122"/>
              </a:rPr>
              <a:t>Rachana Appani  |  Cybersecurity |  Naviotech Internship 2026</a:t>
            </a:r>
          </a:p>
        </p:txBody>
      </p:sp>
      <p:sp>
        <p:nvSpPr>
          <p:cNvPr id="1048989" name="Shape 1"/>
          <p:cNvSpPr/>
          <p:nvPr/>
        </p:nvSpPr>
        <p:spPr>
          <a:xfrm rot="0">
            <a:off x="7604125" y="-549275"/>
            <a:ext cx="2274887" cy="2562225"/>
          </a:xfrm>
          <a:prstGeom prst="ellipse"/>
          <a:solidFill>
            <a:srgbClr val="0077B6">
              <a:alpha val="25000"/>
            </a:srgbClr>
          </a:solidFill>
          <a:ln w="12700" cap="flat" cmpd="sng">
            <a:solidFill>
              <a:srgbClr val="0077B6">
                <a:alpha val="100000"/>
              </a:srgbClr>
            </a:solidFill>
            <a:prstDash val="solid"/>
            <a:round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7E6E6"/>
        </a:dk2>
        <a:lt2>
          <a:srgbClr val="44546A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7E6E6"/>
        </a:dk2>
        <a:lt2>
          <a:srgbClr val="44546A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Phishing Awareness Simulation – Naviotech Solution</dc:title>
  <dc:creator>Rachana Appani</dc:creator>
  <cp:lastModifiedBy>Rachana Appani</cp:lastModifiedBy>
  <dcterms:created xsi:type="dcterms:W3CDTF">2026-06-17T22:44:00Z</dcterms:created>
  <dcterms:modified xsi:type="dcterms:W3CDTF">2026-06-18T09:35:50Z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e69d3542f0b84c308dfe000f5d802df9_23</vt:lpwstr>
  </property>
</Properties>
</file>